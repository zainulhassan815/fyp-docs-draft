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51"/>
    <p:restoredTop autoAdjust="0" sz="94720"/>
  </p:normalViewPr>
  <p:slideViewPr>
    <p:cSldViewPr snapToGrid="0" snapToObjects="1">
      <p:cViewPr>
        <p:scale>
          <a:sx d="100" n="125"/>
          <a:sy d="100" n="125"/>
        </p:scale>
        <p:origin x="848" y="113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8653E0-C679-7C40-9B1B-A3BFFD887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005" y="408723"/>
            <a:ext cx="1231001" cy="123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909FBA-ACB8-214D-BFFD-0FA034D20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007" y="309269"/>
            <a:ext cx="1463587" cy="14361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FC5D91-3A52-6C47-A934-DCD971F7AFF5}"/>
              </a:ext>
            </a:extLst>
          </p:cNvPr>
          <p:cNvSpPr txBox="1"/>
          <p:nvPr userDrawn="1"/>
        </p:nvSpPr>
        <p:spPr>
          <a:xfrm>
            <a:off x="1761006" y="408723"/>
            <a:ext cx="5648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Sharif College of Engineering and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65950C-EE00-0349-8819-FCE5A7D52045}"/>
              </a:ext>
            </a:extLst>
          </p:cNvPr>
          <p:cNvSpPr txBox="1"/>
          <p:nvPr userDrawn="1"/>
        </p:nvSpPr>
        <p:spPr>
          <a:xfrm>
            <a:off x="1056039" y="1357280"/>
            <a:ext cx="705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EE61C9-BD38-ED42-B493-0161A3F97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8531227"/>
              </p:ext>
            </p:extLst>
          </p:nvPr>
        </p:nvGraphicFramePr>
        <p:xfrm>
          <a:off x="1537403" y="2971732"/>
          <a:ext cx="6096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02605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2566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2022-UET-SHCET-LHR-CS-02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Amna</a:t>
                      </a:r>
                      <a:r>
                        <a:rPr lang="en-US"/>
                        <a:t> Ikram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61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Zain </a:t>
                      </a:r>
                      <a:r>
                        <a:rPr lang="en-US" err="1"/>
                        <a:t>Ul</a:t>
                      </a:r>
                      <a:r>
                        <a:rPr lang="en-US"/>
                        <a:t> Hassan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0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Ezza</a:t>
                      </a:r>
                      <a:r>
                        <a:rPr lang="en-US" dirty="0"/>
                        <a:t> Ansar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06713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B79AC2-6DD8-DA4B-B454-2C6E1CD87563}"/>
              </a:ext>
            </a:extLst>
          </p:cNvPr>
          <p:cNvSpPr txBox="1"/>
          <p:nvPr userDrawn="1"/>
        </p:nvSpPr>
        <p:spPr>
          <a:xfrm>
            <a:off x="1537403" y="4546005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Supervisor: </a:t>
            </a:r>
            <a:r>
              <a:rPr lang="en-US" sz="1400" dirty="0"/>
              <a:t>Ms. </a:t>
            </a:r>
            <a:r>
              <a:rPr lang="en-US" sz="1400" dirty="0" err="1"/>
              <a:t>Hirra</a:t>
            </a:r>
            <a:r>
              <a:rPr lang="en-US" sz="1400" dirty="0"/>
              <a:t> Mustafa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D3BD5-0EB1-9A4E-A483-43BA53E3A3DA}"/>
              </a:ext>
            </a:extLst>
          </p:cNvPr>
          <p:cNvSpPr txBox="1"/>
          <p:nvPr userDrawn="1"/>
        </p:nvSpPr>
        <p:spPr>
          <a:xfrm>
            <a:off x="4813656" y="4546005"/>
            <a:ext cx="281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/>
              <a:t>Co-supervisor: </a:t>
            </a:r>
            <a:r>
              <a:rPr lang="en-US" sz="1400" dirty="0"/>
              <a:t>Dr. Mazhar Iqbal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EC6C1-966E-7443-88D2-A4A4A4011549}"/>
              </a:ext>
            </a:extLst>
          </p:cNvPr>
          <p:cNvSpPr/>
          <p:nvPr userDrawn="1"/>
        </p:nvSpPr>
        <p:spPr>
          <a:xfrm>
            <a:off x="1518920" y="1943626"/>
            <a:ext cx="6106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3600"/>
              </a:spcAft>
            </a:pPr>
            <a:r>
              <a:rPr lang="en-US" sz="2400" b="1" kern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AI-Powered HR Screening and Document Retrieval System Using RAG</a:t>
            </a:r>
          </a:p>
        </p:txBody>
      </p:sp>
    </p:spTree>
    <p:extLst>
      <p:ext uri="{BB962C8B-B14F-4D97-AF65-F5344CB8AC3E}">
        <p14:creationId xmlns:p14="http://schemas.microsoft.com/office/powerpoint/2010/main" val="414337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3713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0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1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351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345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aseline="0" sz="900"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aseline="0" sz="900">
                <a:solidFill>
                  <a:schemeClr val="tx2"/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aseline="0" sz="90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977908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685800" eaLnBrk="1" hangingPunct="1" latinLnBrk="0" rtl="0">
        <a:lnSpc>
          <a:spcPct val="89000"/>
        </a:lnSpc>
        <a:spcBef>
          <a:spcPct val="0"/>
        </a:spcBef>
        <a:buNone/>
        <a:defRPr baseline="0" kern="1200" sz="33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288036" latinLnBrk="0" marL="288036" rtl="0">
        <a:lnSpc>
          <a:spcPct val="94000"/>
        </a:lnSpc>
        <a:spcBef>
          <a:spcPts val="750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500">
          <a:solidFill>
            <a:schemeClr val="tx2"/>
          </a:solidFill>
          <a:latin typeface="+mn-lt"/>
          <a:ea typeface="+mn-ea"/>
          <a:cs typeface="+mn-cs"/>
        </a:defRPr>
      </a:lvl1pPr>
      <a:lvl2pPr algn="l" defTabSz="685800" eaLnBrk="1" hangingPunct="1" indent="-288036" latinLnBrk="0" marL="6858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500">
          <a:solidFill>
            <a:schemeClr val="tx2"/>
          </a:solidFill>
          <a:latin typeface="+mn-lt"/>
          <a:ea typeface="+mn-ea"/>
          <a:cs typeface="+mn-cs"/>
        </a:defRPr>
      </a:lvl2pPr>
      <a:lvl3pPr algn="l" defTabSz="685800" eaLnBrk="1" hangingPunct="1" indent="-288036" latinLnBrk="0" marL="10287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350">
          <a:solidFill>
            <a:schemeClr val="tx2"/>
          </a:solidFill>
          <a:latin typeface="+mn-lt"/>
          <a:ea typeface="+mn-ea"/>
          <a:cs typeface="+mn-cs"/>
        </a:defRPr>
      </a:lvl3pPr>
      <a:lvl4pPr algn="l" defTabSz="685800" eaLnBrk="1" hangingPunct="1" indent="-288036" latinLnBrk="0" marL="13716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350">
          <a:solidFill>
            <a:schemeClr val="tx2"/>
          </a:solidFill>
          <a:latin typeface="+mn-lt"/>
          <a:ea typeface="+mn-ea"/>
          <a:cs typeface="+mn-cs"/>
        </a:defRPr>
      </a:lvl4pPr>
      <a:lvl5pPr algn="l" defTabSz="685800" eaLnBrk="1" hangingPunct="1" indent="-288036" latinLnBrk="0" marL="17145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200">
          <a:solidFill>
            <a:schemeClr val="tx2"/>
          </a:solidFill>
          <a:latin typeface="+mn-lt"/>
          <a:ea typeface="+mn-ea"/>
          <a:cs typeface="+mn-cs"/>
        </a:defRPr>
      </a:lvl5pPr>
      <a:lvl6pPr algn="l" defTabSz="685800" eaLnBrk="1" hangingPunct="1" indent="-288036" latinLnBrk="0" marL="20574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200">
          <a:solidFill>
            <a:schemeClr val="tx2"/>
          </a:solidFill>
          <a:latin typeface="+mn-lt"/>
          <a:ea typeface="+mn-ea"/>
          <a:cs typeface="+mn-cs"/>
        </a:defRPr>
      </a:lvl6pPr>
      <a:lvl7pPr algn="l" defTabSz="685800" eaLnBrk="1" hangingPunct="1" indent="-288036" latinLnBrk="0" marL="24003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050">
          <a:solidFill>
            <a:schemeClr val="tx2"/>
          </a:solidFill>
          <a:latin typeface="+mn-lt"/>
          <a:ea typeface="+mn-ea"/>
          <a:cs typeface="+mn-cs"/>
        </a:defRPr>
      </a:lvl7pPr>
      <a:lvl8pPr algn="l" defTabSz="685800" eaLnBrk="1" hangingPunct="1" indent="-288036" latinLnBrk="0" marL="27432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050">
          <a:solidFill>
            <a:schemeClr val="tx2"/>
          </a:solidFill>
          <a:latin typeface="+mn-lt"/>
          <a:ea typeface="+mn-ea"/>
          <a:cs typeface="+mn-cs"/>
        </a:defRPr>
      </a:lvl8pPr>
      <a:lvl9pPr algn="l" defTabSz="685800" eaLnBrk="1" hangingPunct="1" indent="-288036" latinLnBrk="0" marL="30861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05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jp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jp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jp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jp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jp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jp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Project:</a:t>
            </a:r>
            <a:r>
              <a:rPr/>
              <a:t> AI-Powered HR Screening and Document Retrieval System</a:t>
            </a:r>
          </a:p>
          <a:p>
            <a:pPr lvl="0"/>
            <a:r>
              <a:rPr b="1"/>
              <a:t>Technology:</a:t>
            </a:r>
            <a:r>
              <a:rPr/>
              <a:t> Retrieval-Augmented Generation (RAG)</a:t>
            </a:r>
          </a:p>
          <a:p>
            <a:pPr lvl="0"/>
            <a:r>
              <a:rPr b="1"/>
              <a:t>Domain:</a:t>
            </a:r>
            <a:r>
              <a:rPr/>
              <a:t> Human Resources &amp; Document Management</a:t>
            </a:r>
          </a:p>
          <a:p>
            <a:pPr lvl="0"/>
            <a:r>
              <a:rPr b="1"/>
              <a:t>Primary Users:</a:t>
            </a:r>
            <a:r>
              <a:rPr/>
              <a:t> HR Personnel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project helps organizations in:</a:t>
            </a:r>
          </a:p>
          <a:p>
            <a:pPr lvl="0"/>
            <a:r>
              <a:rPr/>
              <a:t>Managing large collections of unstructured documents</a:t>
            </a:r>
          </a:p>
          <a:p>
            <a:pPr lvl="0"/>
            <a:r>
              <a:rPr/>
              <a:t>Searching and extracting meaningful information using AI</a:t>
            </a:r>
          </a:p>
          <a:p>
            <a:pPr lvl="0"/>
            <a:r>
              <a:rPr/>
              <a:t>Automating resume screening and candidate evaluation</a:t>
            </a:r>
          </a:p>
          <a:p>
            <a:pPr lvl="0"/>
            <a:r>
              <a:rPr/>
              <a:t>Reducing time-consuming manual document 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Processing</a:t>
            </a:r>
          </a:p>
          <a:p>
            <a:pPr lvl="0"/>
            <a:r>
              <a:rPr/>
              <a:t>PDF, Word, and scanned images</a:t>
            </a:r>
          </a:p>
          <a:p>
            <a:pPr lvl="0"/>
            <a:r>
              <a:rPr/>
              <a:t>OCR-based text extraction</a:t>
            </a:r>
          </a:p>
          <a:p>
            <a:pPr lvl="0"/>
            <a:r>
              <a:rPr/>
              <a:t>Automatic document classification</a:t>
            </a:r>
          </a:p>
          <a:p>
            <a:pPr lvl="0"/>
            <a:r>
              <a:rPr/>
              <a:t>Metadata generation and tagging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HR Screening</a:t>
            </a:r>
          </a:p>
          <a:p>
            <a:pPr lvl="0"/>
            <a:r>
              <a:rPr/>
              <a:t>Gmail integration for resume collection</a:t>
            </a:r>
          </a:p>
          <a:p>
            <a:pPr lvl="0"/>
            <a:r>
              <a:rPr/>
              <a:t>Multiple resume format support</a:t>
            </a:r>
          </a:p>
          <a:p>
            <a:pPr lvl="0"/>
            <a:r>
              <a:rPr/>
              <a:t>Candidate ranking against job criteria</a:t>
            </a:r>
          </a:p>
          <a:p>
            <a:pPr lvl="0"/>
            <a:r>
              <a:rPr/>
              <a:t>Shortlisting and export capabilities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Existing System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Approaches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1917700"/>
                <a:gridCol w="2882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effort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Time-consuming, error-prone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 text matching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Misses semantically similar content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Rule-based filtering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Rigid criteria, misses good candidates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OCR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 extraction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intelligent 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Related Technologies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Similarity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ChromaDB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Eightfold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Recruitment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Greenhouse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ATS, Resume Filtering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Document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Processing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Amazon Textract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 Extraction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Tesseract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Open-source 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Limitations</a:t>
            </a:r>
          </a:p>
          <a:p>
            <a:pPr lvl="0"/>
            <a:r>
              <a:rPr/>
              <a:t>Cannot understand document context</a:t>
            </a:r>
          </a:p>
          <a:p>
            <a:pPr lvl="0"/>
            <a:r>
              <a:rPr/>
              <a:t>No natural language question answering</a:t>
            </a:r>
          </a:p>
          <a:p>
            <a:pPr lvl="0"/>
            <a:r>
              <a:rPr/>
              <a:t>Keyword-based search only</a:t>
            </a:r>
          </a:p>
          <a:p>
            <a:pPr lvl="0"/>
            <a:r>
              <a:rPr/>
              <a:t>Limited to specific file formats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Limitations</a:t>
            </a:r>
          </a:p>
          <a:p>
            <a:pPr lvl="0"/>
            <a:r>
              <a:rPr/>
              <a:t>Document and HR tools are separate</a:t>
            </a:r>
          </a:p>
          <a:p>
            <a:pPr lvl="0"/>
            <a:r>
              <a:rPr/>
              <a:t>Still requires significant manual review</a:t>
            </a:r>
          </a:p>
          <a:p>
            <a:pPr lvl="0"/>
            <a:r>
              <a:rPr/>
              <a:t>No unified platform for both needs</a:t>
            </a:r>
          </a:p>
          <a:p>
            <a:pPr lvl="0"/>
            <a:r>
              <a:rPr/>
              <a:t>Poor handling of unstructured data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Management</a:t>
            </a:r>
          </a:p>
          <a:p>
            <a:pPr lvl="0"/>
            <a:r>
              <a:rPr/>
              <a:t>Large document collections are hard to manage</a:t>
            </a:r>
          </a:p>
          <a:p>
            <a:pPr lvl="0"/>
            <a:r>
              <a:rPr/>
              <a:t>Difficult to search without exact keywords</a:t>
            </a:r>
          </a:p>
          <a:p>
            <a:pPr lvl="0"/>
            <a:r>
              <a:rPr/>
              <a:t>Manual classification is tedious</a:t>
            </a:r>
          </a:p>
          <a:p>
            <a:pPr lvl="0"/>
            <a:r>
              <a:rPr/>
              <a:t>No way to ask questions about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HR Screening</a:t>
            </a:r>
          </a:p>
          <a:p>
            <a:pPr lvl="0"/>
            <a:r>
              <a:rPr/>
              <a:t>Resume screening is time-consuming</a:t>
            </a:r>
          </a:p>
          <a:p>
            <a:pPr lvl="0"/>
            <a:r>
              <a:rPr/>
              <a:t>Good candidates are often overlooked</a:t>
            </a:r>
          </a:p>
          <a:p>
            <a:pPr lvl="0"/>
            <a:r>
              <a:rPr/>
              <a:t>Manual email collection is tedious</a:t>
            </a:r>
          </a:p>
          <a:p>
            <a:pPr lvl="0"/>
            <a:r>
              <a:rPr/>
              <a:t>No automated candidate ranking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Addressed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00"/>
                <a:gridCol w="3035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document volumes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Difficult to find relevant information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Keyword-based search limitations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Semantically similar content is missed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question answering capability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 cannot query document content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resume collection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spends time on repetitive tasks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Subjective candidate 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Inconsistent screening decisions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Proposed System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AI-powered system that combines document management with HR screening:</a:t>
            </a:r>
          </a:p>
          <a:p>
            <a:pPr lvl="0"/>
            <a:r>
              <a:rPr b="1"/>
              <a:t>Document Processing:</a:t>
            </a:r>
            <a:r>
              <a:rPr/>
              <a:t> Automated text extraction, classification, and tagging</a:t>
            </a:r>
          </a:p>
          <a:p>
            <a:pPr lvl="0"/>
            <a:r>
              <a:rPr b="1"/>
              <a:t>Semantic Search:</a:t>
            </a:r>
            <a:r>
              <a:rPr/>
              <a:t> Find documents by meaning, not just keywords</a:t>
            </a:r>
          </a:p>
          <a:p>
            <a:pPr lvl="0"/>
            <a:r>
              <a:rPr b="1"/>
              <a:t>RAG Module:</a:t>
            </a:r>
            <a:r>
              <a:rPr/>
              <a:t> Ask questions and get AI-generated answers from documents</a:t>
            </a:r>
          </a:p>
          <a:p>
            <a:pPr lvl="0"/>
            <a:r>
              <a:rPr b="1"/>
              <a:t>HR Screening:</a:t>
            </a:r>
            <a:r>
              <a:rPr/>
              <a:t> Automated resume collection, parsing, and candidate ranking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Features</a:t>
            </a:r>
          </a:p>
          <a:p>
            <a:pPr lvl="0"/>
            <a:r>
              <a:rPr/>
              <a:t>Upload PDF, Word, images</a:t>
            </a:r>
          </a:p>
          <a:p>
            <a:pPr lvl="0"/>
            <a:r>
              <a:rPr/>
              <a:t>OCR for scanned documents</a:t>
            </a:r>
          </a:p>
          <a:p>
            <a:pPr lvl="0"/>
            <a:r>
              <a:rPr/>
              <a:t>Automatic classification</a:t>
            </a:r>
          </a:p>
          <a:p>
            <a:pPr lvl="0"/>
            <a:r>
              <a:rPr/>
              <a:t>Metadata extraction</a:t>
            </a:r>
          </a:p>
          <a:p>
            <a:pPr lvl="0"/>
            <a:r>
              <a:rPr/>
              <a:t>Natural language 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HR Features</a:t>
            </a:r>
          </a:p>
          <a:p>
            <a:pPr lvl="0"/>
            <a:r>
              <a:rPr/>
              <a:t>Gmail OAuth integration</a:t>
            </a:r>
          </a:p>
          <a:p>
            <a:pPr lvl="0"/>
            <a:r>
              <a:rPr/>
              <a:t>Resume attachment sync</a:t>
            </a:r>
          </a:p>
          <a:p>
            <a:pPr lvl="0"/>
            <a:r>
              <a:rPr/>
              <a:t>Skill and experience extraction</a:t>
            </a:r>
          </a:p>
          <a:p>
            <a:pPr lvl="0"/>
            <a:r>
              <a:rPr/>
              <a:t>Job-based candidate matching</a:t>
            </a:r>
          </a:p>
          <a:p>
            <a:pPr lvl="0"/>
            <a:r>
              <a:rPr/>
              <a:t>Shortlist and export to Excel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RAG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Upload:</a:t>
            </a:r>
            <a:r>
              <a:rPr/>
              <a:t> Documents are added to the system</a:t>
            </a:r>
          </a:p>
          <a:p>
            <a:pPr lvl="0" indent="-342900" marL="342900">
              <a:buAutoNum type="arabicPeriod"/>
            </a:pPr>
            <a:r>
              <a:rPr b="1"/>
              <a:t>Extract:</a:t>
            </a:r>
            <a:r>
              <a:rPr/>
              <a:t> Text is extracted using OCR when needed</a:t>
            </a:r>
          </a:p>
          <a:p>
            <a:pPr lvl="0" indent="-342900" marL="342900">
              <a:buAutoNum type="arabicPeriod"/>
            </a:pPr>
            <a:r>
              <a:rPr b="1"/>
              <a:t>Chunk:</a:t>
            </a:r>
            <a:r>
              <a:rPr/>
              <a:t> Content is split into meaningful sections</a:t>
            </a:r>
          </a:p>
          <a:p>
            <a:pPr lvl="0" indent="-342900" marL="342900">
              <a:buAutoNum type="arabicPeriod"/>
            </a:pPr>
            <a:r>
              <a:rPr b="1"/>
              <a:t>Embed:</a:t>
            </a:r>
            <a:r>
              <a:rPr/>
              <a:t> Text chunks are converted to vector embeddings</a:t>
            </a:r>
          </a:p>
          <a:p>
            <a:pPr lvl="0" indent="-342900" marL="342900">
              <a:buAutoNum type="arabicPeriod"/>
            </a:pPr>
            <a:r>
              <a:rPr b="1"/>
              <a:t>Query:</a:t>
            </a:r>
            <a:r>
              <a:rPr/>
              <a:t> User asks a question in natural language</a:t>
            </a:r>
          </a:p>
          <a:p>
            <a:pPr lvl="0" indent="-342900" marL="342900">
              <a:buAutoNum type="arabicPeriod"/>
            </a:pPr>
            <a:r>
              <a:rPr b="1"/>
              <a:t>Retrieve:</a:t>
            </a:r>
            <a:r>
              <a:rPr/>
              <a:t> System finds semantically relevant chunks</a:t>
            </a:r>
          </a:p>
          <a:p>
            <a:pPr lvl="0" indent="-342900" marL="342900">
              <a:buAutoNum type="arabicPeriod"/>
            </a:pPr>
            <a:r>
              <a:rPr b="1"/>
              <a:t>Generate:</a:t>
            </a:r>
            <a:r>
              <a:rPr/>
              <a:t> AI produces an answer based on retrieved content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Features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Authentication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Login, password reset, role-based access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Upload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PDF, Word, image upload with processing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&amp;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search with metadata filters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Q&amp;A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Natural language questions over documents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Create, edit, delete job postings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Resume Screening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View, shortlist, reject candidates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Gmail sync for resume collection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trail of system activities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pic>
        <p:nvPicPr>
          <p:cNvPr descr="./images/architectur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1714500"/>
            <a:ext cx="15875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Architecture Diagram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Major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Ingestion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uploads, format validation, routing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Processing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OCR, text extraction, classification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AI/NLP Module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Embeddings, semantic search, RAG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embeddings for similarity 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Module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Gmail integration, resume collection, screening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logic and coordination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 Interface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 application for user interactions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Authentication, authorization, audit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Planning</a:t>
            </a:r>
          </a:p>
          <a:p>
            <a:pPr lvl="0"/>
            <a:r>
              <a:rPr/>
              <a:t>Requirements gathering</a:t>
            </a:r>
          </a:p>
          <a:p>
            <a:pPr lvl="0"/>
            <a:r>
              <a:rPr/>
              <a:t>System architecture design</a:t>
            </a:r>
          </a:p>
          <a:p>
            <a:pPr lvl="0"/>
            <a:r>
              <a:rPr/>
              <a:t>Database schema design</a:t>
            </a:r>
          </a:p>
          <a:p>
            <a:pPr lvl="0"/>
            <a:r>
              <a:rPr/>
              <a:t>User interface planning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2: Implementation</a:t>
            </a:r>
          </a:p>
          <a:p>
            <a:pPr lvl="0"/>
            <a:r>
              <a:rPr/>
              <a:t>Backend API development</a:t>
            </a:r>
          </a:p>
          <a:p>
            <a:pPr lvl="0"/>
            <a:r>
              <a:rPr/>
              <a:t>AI/RAG component setup</a:t>
            </a:r>
          </a:p>
          <a:p>
            <a:pPr lvl="0"/>
            <a:r>
              <a:rPr/>
              <a:t>Frontend development</a:t>
            </a:r>
          </a:p>
          <a:p>
            <a:pPr lvl="0"/>
            <a:r>
              <a:rPr/>
              <a:t>Integration and testing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Processing Flow</a:t>
            </a:r>
          </a:p>
          <a:p>
            <a:pPr lvl="0" indent="-342900" marL="342900">
              <a:buAutoNum type="arabicPeriod"/>
            </a:pPr>
            <a:r>
              <a:rPr/>
              <a:t>User uploads document</a:t>
            </a:r>
          </a:p>
          <a:p>
            <a:pPr lvl="0" indent="-342900" marL="342900">
              <a:buAutoNum type="arabicPeriod"/>
            </a:pPr>
            <a:r>
              <a:rPr/>
              <a:t>System extracts text (OCR if needed)</a:t>
            </a:r>
          </a:p>
          <a:p>
            <a:pPr lvl="0" indent="-342900" marL="342900">
              <a:buAutoNum type="arabicPeriod"/>
            </a:pPr>
            <a:r>
              <a:rPr/>
              <a:t>Document is classified</a:t>
            </a:r>
          </a:p>
          <a:p>
            <a:pPr lvl="0" indent="-342900" marL="342900">
              <a:buAutoNum type="arabicPeriod"/>
            </a:pPr>
            <a:r>
              <a:rPr/>
              <a:t>Metadata is generated</a:t>
            </a:r>
          </a:p>
          <a:p>
            <a:pPr lvl="0" indent="-342900" marL="342900">
              <a:buAutoNum type="arabicPeriod"/>
            </a:pPr>
            <a:r>
              <a:rPr/>
              <a:t>Content is indexed for 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Search &amp; Q&amp;A Flow</a:t>
            </a:r>
          </a:p>
          <a:p>
            <a:pPr lvl="0" indent="-342900" marL="342900">
              <a:buAutoNum type="arabicPeriod"/>
            </a:pPr>
            <a:r>
              <a:rPr/>
              <a:t>User enters query</a:t>
            </a:r>
          </a:p>
          <a:p>
            <a:pPr lvl="0" indent="-342900" marL="342900">
              <a:buAutoNum type="arabicPeriod"/>
            </a:pPr>
            <a:r>
              <a:rPr/>
              <a:t>Query is parsed for intent</a:t>
            </a:r>
          </a:p>
          <a:p>
            <a:pPr lvl="0" indent="-342900" marL="342900">
              <a:buAutoNum type="arabicPeriod"/>
            </a:pPr>
            <a:r>
              <a:rPr/>
              <a:t>Relevant content is retrieved</a:t>
            </a:r>
          </a:p>
          <a:p>
            <a:pPr lvl="0" indent="-342900" marL="342900">
              <a:buAutoNum type="arabicPeriod"/>
            </a:pPr>
            <a:r>
              <a:rPr/>
              <a:t>Results are ranked</a:t>
            </a:r>
          </a:p>
          <a:p>
            <a:pPr lvl="0" indent="-342900" marL="342900">
              <a:buAutoNum type="arabicPeriod"/>
            </a:pPr>
            <a:r>
              <a:rPr/>
              <a:t>AI generates response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Tools and Techniques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Backend Technologies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3.9+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programming language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 web framework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 13+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Relational database for metadata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ChromaDB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database for embeddings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framework and LLM 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Tesseract 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 extraction from images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PyMuPDF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 processing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and NLP Technologies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OpenAI Embeddings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Text-to-vector conversion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Language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 generation and parsing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Meaning-based document retrieval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 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Resume parsing with regex + LLM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Frontend and Infrastructure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/ Next.js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 web framework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OAuth 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Gmail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Containerized deployment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Secure communication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Server Requirements</a:t>
            </a:r>
          </a:p>
          <a:p>
            <a:pPr lvl="0"/>
            <a:r>
              <a:rPr/>
              <a:t>Linux (Ubuntu 20.04+) or Windows Server</a:t>
            </a:r>
          </a:p>
          <a:p>
            <a:pPr lvl="0"/>
            <a:r>
              <a:rPr/>
              <a:t>16 GB RAM minimum</a:t>
            </a:r>
          </a:p>
          <a:p>
            <a:pPr lvl="0"/>
            <a:r>
              <a:rPr/>
              <a:t>Quad-core processor</a:t>
            </a:r>
          </a:p>
          <a:p>
            <a:pPr lvl="0"/>
            <a:r>
              <a:rPr/>
              <a:t>500 GB SSD storage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Client Requirements</a:t>
            </a:r>
          </a:p>
          <a:p>
            <a:pPr lvl="0"/>
            <a:r>
              <a:rPr/>
              <a:t>Modern web browser</a:t>
            </a:r>
          </a:p>
          <a:p>
            <a:pPr lvl="0"/>
            <a:r>
              <a:rPr/>
              <a:t>JavaScript enabled</a:t>
            </a:r>
          </a:p>
          <a:p>
            <a:pPr lvl="0"/>
            <a:r>
              <a:rPr/>
              <a:t>Stable internet connection</a:t>
            </a:r>
          </a:p>
          <a:p>
            <a:pPr lvl="0"/>
            <a:r>
              <a:rPr/>
              <a:t>No installation required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Diagrams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Diagram</a:t>
            </a:r>
          </a:p>
        </p:txBody>
      </p:sp>
      <p:pic>
        <p:nvPicPr>
          <p:cNvPr descr="./images/use_case_diagram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70300" y="1714500"/>
            <a:ext cx="19177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Use Case Diagram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Diagram</a:t>
            </a:r>
          </a:p>
        </p:txBody>
      </p:sp>
      <p:pic>
        <p:nvPicPr>
          <p:cNvPr descr="./images/activity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02100" y="1714500"/>
            <a:ext cx="10541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Activity Diagram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Level 0</a:t>
            </a:r>
          </a:p>
        </p:txBody>
      </p:sp>
      <p:pic>
        <p:nvPicPr>
          <p:cNvPr descr="./images/dfd_level_0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311400"/>
            <a:ext cx="7200900" cy="99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DFD Level 0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Level 1</a:t>
            </a:r>
          </a:p>
        </p:txBody>
      </p:sp>
      <p:pic>
        <p:nvPicPr>
          <p:cNvPr descr="./images/dfd_level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84600" y="1714500"/>
            <a:ext cx="17018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DFD Level 1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Level 2</a:t>
            </a:r>
          </a:p>
        </p:txBody>
      </p:sp>
      <p:pic>
        <p:nvPicPr>
          <p:cNvPr descr="./images/dfd_level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83000" y="1714500"/>
            <a:ext cx="18923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DFD Level 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Diagram</a:t>
            </a:r>
          </a:p>
        </p:txBody>
      </p:sp>
      <p:pic>
        <p:nvPicPr>
          <p:cNvPr descr="./images/class-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25900" y="1714500"/>
            <a:ext cx="1219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Class Diagram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Contribution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Contributions</a:t>
            </a:r>
          </a:p>
          <a:p>
            <a:pPr lvl="0"/>
            <a:r>
              <a:rPr/>
              <a:t>Unified document and HR platform</a:t>
            </a:r>
          </a:p>
          <a:p>
            <a:pPr lvl="0"/>
            <a:r>
              <a:rPr/>
              <a:t>RAG-based question answering</a:t>
            </a:r>
          </a:p>
          <a:p>
            <a:pPr lvl="0"/>
            <a:r>
              <a:rPr/>
              <a:t>Semantic search implementation</a:t>
            </a:r>
          </a:p>
          <a:p>
            <a:pPr lvl="0"/>
            <a:r>
              <a:rPr/>
              <a:t>Hybrid chunking strategy for resumes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Contributions</a:t>
            </a:r>
          </a:p>
          <a:p>
            <a:pPr lvl="0"/>
            <a:r>
              <a:rPr/>
              <a:t>Automated email resume collection</a:t>
            </a:r>
          </a:p>
          <a:p>
            <a:pPr lvl="0"/>
            <a:r>
              <a:rPr/>
              <a:t>AI-powered candidate ranking</a:t>
            </a:r>
          </a:p>
          <a:p>
            <a:pPr lvl="0"/>
            <a:r>
              <a:rPr/>
              <a:t>Natural language interface</a:t>
            </a:r>
          </a:p>
          <a:p>
            <a:pPr lvl="0"/>
            <a:r>
              <a:rPr/>
              <a:t>Reduced manual screening effort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/>
                <a:gridCol w="359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Savings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Reduces hours spent on manual document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Improved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reduces human errors in screening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Handles large document collections efficiently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Ease of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Natural language queries, no training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Works with existing Gmail accounts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 logging for audit trails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with Existing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Proposed System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(meaning-based)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Q&amp;A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available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RAG-powered answers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Resume Collection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download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Gmail sync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Candidate Ranking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or rule-based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AI-powered matching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 solution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Limitations</a:t>
            </a:r>
          </a:p>
          <a:p>
            <a:pPr lvl="0"/>
            <a:r>
              <a:rPr/>
              <a:t>English language documents only</a:t>
            </a:r>
          </a:p>
          <a:p>
            <a:pPr lvl="0"/>
            <a:r>
              <a:rPr/>
              <a:t>OCR accuracy depends on scan quality</a:t>
            </a:r>
          </a:p>
          <a:p>
            <a:pPr lvl="0"/>
            <a:r>
              <a:rPr/>
              <a:t>Requires AI model API access</a:t>
            </a:r>
          </a:p>
          <a:p>
            <a:pPr lvl="0"/>
            <a:r>
              <a:rPr/>
              <a:t>GPU recommended for local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Scope Limitations</a:t>
            </a:r>
          </a:p>
          <a:p>
            <a:pPr lvl="0"/>
            <a:r>
              <a:rPr/>
              <a:t>Limited to PDF, Word, images</a:t>
            </a:r>
          </a:p>
          <a:p>
            <a:pPr lvl="0"/>
            <a:r>
              <a:rPr/>
              <a:t>Single organization deployment</a:t>
            </a:r>
          </a:p>
          <a:p>
            <a:pPr lvl="0"/>
            <a:r>
              <a:rPr/>
              <a:t>Internet required for email sync</a:t>
            </a:r>
          </a:p>
          <a:p>
            <a:pPr lvl="0"/>
            <a:r>
              <a:rPr/>
              <a:t>Designed for medium-scale workloads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Enhancements</a:t>
            </a:r>
          </a:p>
          <a:p>
            <a:pPr lvl="0"/>
            <a:r>
              <a:rPr/>
              <a:t>Multi-language support</a:t>
            </a:r>
          </a:p>
          <a:p>
            <a:pPr lvl="0"/>
            <a:r>
              <a:rPr/>
              <a:t>Improved OCR accuracy</a:t>
            </a:r>
          </a:p>
          <a:p>
            <a:pPr lvl="0"/>
            <a:r>
              <a:rPr/>
              <a:t>Custom model fine-tuning</a:t>
            </a:r>
          </a:p>
          <a:p>
            <a:pPr lvl="0"/>
            <a:r>
              <a:rPr/>
              <a:t>Advanced analytics dashboard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Feature Additions</a:t>
            </a:r>
          </a:p>
          <a:p>
            <a:pPr lvl="0"/>
            <a:r>
              <a:rPr/>
              <a:t>Additional email providers</a:t>
            </a:r>
          </a:p>
          <a:p>
            <a:pPr lvl="0"/>
            <a:r>
              <a:rPr/>
              <a:t>Mobile application</a:t>
            </a:r>
          </a:p>
          <a:p>
            <a:pPr lvl="0"/>
            <a:r>
              <a:rPr/>
              <a:t>Multi-tenant support</a:t>
            </a:r>
          </a:p>
          <a:p>
            <a:pPr lvl="0"/>
            <a:r>
              <a:rPr/>
              <a:t>Integration with HRIS systems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User Interface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Login Screen</a:t>
            </a:r>
          </a:p>
        </p:txBody>
      </p:sp>
      <p:pic>
        <p:nvPicPr>
          <p:cNvPr descr="./images/screenshots/log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Login Screen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Signup Screen</a:t>
            </a:r>
          </a:p>
        </p:txBody>
      </p:sp>
      <p:pic>
        <p:nvPicPr>
          <p:cNvPr descr="./images/screenshots/sign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Signup Screen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</a:t>
            </a:r>
          </a:p>
        </p:txBody>
      </p:sp>
      <p:pic>
        <p:nvPicPr>
          <p:cNvPr descr="./images/screenshots/dashboard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Dashboard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Management</a:t>
            </a:r>
          </a:p>
        </p:txBody>
      </p:sp>
      <p:pic>
        <p:nvPicPr>
          <p:cNvPr descr="./images/screenshots/documents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Document Management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Search and RAG Interface</a:t>
            </a:r>
          </a:p>
        </p:txBody>
      </p:sp>
      <p:pic>
        <p:nvPicPr>
          <p:cNvPr descr="./images/screenshots/search-and-ra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Search and RAG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 Listing</a:t>
            </a:r>
          </a:p>
        </p:txBody>
      </p:sp>
      <p:pic>
        <p:nvPicPr>
          <p:cNvPr descr="./images/screenshots/jobs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Jobs Listing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Job</a:t>
            </a:r>
          </a:p>
        </p:txBody>
      </p:sp>
      <p:pic>
        <p:nvPicPr>
          <p:cNvPr descr="./images/screenshots/create-jobs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714500"/>
            <a:ext cx="32639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Create Job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Candidates / Resume Screening</a:t>
            </a:r>
          </a:p>
        </p:txBody>
      </p:sp>
      <p:pic>
        <p:nvPicPr>
          <p:cNvPr descr="./images/screenshots/candidates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714500"/>
            <a:ext cx="42672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028700" y="3886200"/>
            <a:ext cx="7200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Candidates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{A4114FC8-8243-0C4E-A4C9-52C0D20216B8}tf10001072</Template>
  <TotalTime>35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Franklin Gothic Book</vt:lpstr>
      <vt:lpstr>Times New Roman</vt:lpstr>
      <vt:lpstr>Crop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HR Screening and Document Retrieval System</dc:title>
  <dc:creator>Final Year Project</dc:creator>
  <cp:keywords/>
  <dcterms:created xsi:type="dcterms:W3CDTF">2026-01-04T18:51:03Z</dcterms:created>
  <dcterms:modified xsi:type="dcterms:W3CDTF">2026-01-04T18:51:03Z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Using Retrieval-Augmented Generation (RAG)</vt:lpwstr>
  </property>
  <property fmtid="{D5CDD505-2E9C-101B-9397-08002B2CF9AE}" pid="10" name="toc-title">
    <vt:lpwstr>Table of contents</vt:lpwstr>
  </property>
</Properties>
</file>