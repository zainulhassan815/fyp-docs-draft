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82" r:id="rId1"/>
  </p:sldMasterIdLst>
  <p:sldIdLst>
    <p:sldId id="256" r:id="rId2"/>
    <p:sldId id="257" r:id="rId3"/>
    <p:sldId id="279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51" autoAdjust="0"/>
    <p:restoredTop sz="96565" autoAdjust="0"/>
  </p:normalViewPr>
  <p:slideViewPr>
    <p:cSldViewPr snapToGrid="0" snapToObjects="1">
      <p:cViewPr varScale="1">
        <p:scale>
          <a:sx n="148" d="100"/>
          <a:sy n="148" d="100"/>
        </p:scale>
        <p:origin x="208" y="76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09375-55A6-3449-8D2B-ABD7B71485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1C54D7-40B8-8240-82BD-0AA0BF107E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A173B5-5CDF-104D-A5AA-D6EAB3F9D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7/15/26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E7A43A-8B96-4D4C-83E4-28607FBD8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EE1BB4-D5F1-6349-ABD1-068FDEC0D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4263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C8C7E-9306-FB49-B257-16722B1E0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F3B3A7-DB1D-1B48-8117-7D3F41B2E8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105FE-A775-AE4B-A740-0226704F7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FA023E-A8FE-9849-A054-333D0755D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B3C36-3395-674C-9334-00138B237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673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DED0F-29A4-624F-BBF1-EFFF1BDFB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21C395-802F-3543-9507-E03F1361DE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682F3-67FE-D44D-9F12-A13F0477B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F7B4BB-2B75-A240-864C-B4FD3E215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1C96F3-4282-9C4E-A46C-3CF589AD9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488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FCCFF-5963-124F-8685-48B96092E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A61DE9-ED8F-C74A-82E9-555EF7DAD7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7210B5-FA30-B74B-A707-12B060A26A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8C8066-50B4-FA44-8A61-8E28C202A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FE2525-BDDB-3047-A04B-DB80CC69A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8C7B11-3DAD-0348-8398-3606F664C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270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85CB4-988A-D746-A8F4-38F030892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CCBA66-1F42-AE4A-9C39-50C3732D59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21689-8143-3549-A479-17EC936CE9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64AB2F-3351-F44F-9F17-1F6B188B6C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518E0C-B517-4541-9317-BC3347ED9F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FA0A92-6EB9-3A49-B09A-B6322AA31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A76773-5246-134F-A49B-24327A9DC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24D78C-FC3E-334D-BBBD-B6AC5F446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439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DEE00-89E7-8046-B823-0B75C9E74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CFEE8B-A512-5E42-925F-C8792B2DE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8ADFE2-00EA-BD46-9C38-F03E30DC2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8A3237-B45C-0A46-A906-0B5EB2727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004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C7B471-1E57-414B-A374-158D3C670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1F6762-BEEF-E346-963A-E4FC4D76E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D1467D-1FDB-FC48-A1AD-A0E0BB88D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620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9A720-4C29-454E-8CB8-19BA75DF4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89B376-5794-2541-846A-4462F10A85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A2DB48-D3FC-104A-A865-A6E459E3E2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CF5B58-B34F-7744-B934-5D162BBAD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57647D-9602-274B-B892-8314F56ED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D120AE-B198-3F45-87BA-E8E2A4FA0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445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E984B-1139-574E-A7B2-C9C82461F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6FEC3E-19FC-9B4C-9E77-4439D03094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FD69E1-B76E-B043-A882-38F39F49F6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3A7C81-2EF4-8442-8E1F-88B3FA6AF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88FB06-E7EC-FE41-B08C-2E7D9A5B8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6D7C22-4C61-8640-BE51-E9F497BA2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169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50919-7ABB-CB46-9094-F2CB57026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81C29F-71A8-2A44-B804-E1B48F4402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DA6287-DF85-0349-9FDC-22B61A7E4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E58F8-C4E2-4D41-A29C-2A1005D74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216C75-72AC-DA48-9545-8AAB16CF0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821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72BA82-D1B4-A14A-8841-6248188628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6FFDAB-B580-D44A-AA8A-1DD6948326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163DF1-A9FB-8540-A864-991AE2A5B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0823AA-899C-4944-AC48-5D3960AEC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81B7B-6E33-474E-A6CF-3979D75A5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1169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88653E0-C679-7C40-9B1B-A3BFFD8878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0005" y="408723"/>
            <a:ext cx="1231001" cy="123719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B909FBA-ACB8-214D-BFFD-0FA034D20BC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007" y="309269"/>
            <a:ext cx="1463587" cy="143610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4FC5D91-3A52-6C47-A934-DCD971F7AFF5}"/>
              </a:ext>
            </a:extLst>
          </p:cNvPr>
          <p:cNvSpPr txBox="1"/>
          <p:nvPr userDrawn="1"/>
        </p:nvSpPr>
        <p:spPr>
          <a:xfrm>
            <a:off x="1761006" y="408723"/>
            <a:ext cx="56487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Sharif College of Engineering and Technology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865950C-EE00-0349-8819-FCE5A7D52045}"/>
              </a:ext>
            </a:extLst>
          </p:cNvPr>
          <p:cNvSpPr txBox="1"/>
          <p:nvPr userDrawn="1"/>
        </p:nvSpPr>
        <p:spPr>
          <a:xfrm>
            <a:off x="1056039" y="1357280"/>
            <a:ext cx="705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2EE61C9-BD38-ED42-B493-0161A3F97AD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427740521"/>
              </p:ext>
            </p:extLst>
          </p:nvPr>
        </p:nvGraphicFramePr>
        <p:xfrm>
          <a:off x="1537403" y="2971732"/>
          <a:ext cx="6096000" cy="14833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60260597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2256632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Roll Number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051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2022-UET-SHCET-LHR-CS-02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Amna</a:t>
                      </a:r>
                      <a:r>
                        <a:rPr lang="en-US"/>
                        <a:t> Ikram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86108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2022-UET-SHCET-LHR-CS-12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Zain </a:t>
                      </a:r>
                      <a:r>
                        <a:rPr lang="en-US" err="1"/>
                        <a:t>Ul</a:t>
                      </a:r>
                      <a:r>
                        <a:rPr lang="en-US"/>
                        <a:t> Hassan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5003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2022-UET-SHCET-LHR-CS-13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Ezza</a:t>
                      </a:r>
                      <a:r>
                        <a:rPr lang="en-US" dirty="0"/>
                        <a:t> Ansar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3067130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EFB79AC2-6DD8-DA4B-B454-2C6E1CD87563}"/>
              </a:ext>
            </a:extLst>
          </p:cNvPr>
          <p:cNvSpPr txBox="1"/>
          <p:nvPr userDrawn="1"/>
        </p:nvSpPr>
        <p:spPr>
          <a:xfrm>
            <a:off x="1537403" y="4546005"/>
            <a:ext cx="26420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Supervisor: </a:t>
            </a:r>
            <a:r>
              <a:rPr lang="en-US" sz="1400" dirty="0"/>
              <a:t>Ms. </a:t>
            </a:r>
            <a:r>
              <a:rPr lang="en-US" sz="1400" dirty="0" err="1"/>
              <a:t>Hirra</a:t>
            </a:r>
            <a:r>
              <a:rPr lang="en-US" sz="1400" dirty="0"/>
              <a:t> Mustafa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80D3BD5-0EB1-9A4E-A483-43BA53E3A3DA}"/>
              </a:ext>
            </a:extLst>
          </p:cNvPr>
          <p:cNvSpPr txBox="1"/>
          <p:nvPr userDrawn="1"/>
        </p:nvSpPr>
        <p:spPr>
          <a:xfrm>
            <a:off x="4813656" y="4546005"/>
            <a:ext cx="28197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b="1" dirty="0"/>
              <a:t>Co-supervisor: </a:t>
            </a:r>
            <a:r>
              <a:rPr lang="en-US" sz="1400" dirty="0"/>
              <a:t>Dr. Mazhar Iqbal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B9EC6C1-966E-7443-88D2-A4A4A4011549}"/>
              </a:ext>
            </a:extLst>
          </p:cNvPr>
          <p:cNvSpPr/>
          <p:nvPr userDrawn="1"/>
        </p:nvSpPr>
        <p:spPr>
          <a:xfrm>
            <a:off x="1518920" y="1943626"/>
            <a:ext cx="610616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spcAft>
                <a:spcPts val="3600"/>
              </a:spcAft>
            </a:pPr>
            <a:r>
              <a:rPr lang="en-US" sz="2400" b="1" kern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AI-Powered HR Screening and Document Retrieval System Using RAG</a:t>
            </a:r>
          </a:p>
        </p:txBody>
      </p:sp>
    </p:spTree>
    <p:extLst>
      <p:ext uri="{BB962C8B-B14F-4D97-AF65-F5344CB8AC3E}">
        <p14:creationId xmlns:p14="http://schemas.microsoft.com/office/powerpoint/2010/main" val="25393894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C108C9-A9EA-354D-A6DB-7C1E7200E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404833-3C04-6A4F-AB56-865CBDB113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0B34DA-4DD6-A647-9142-A855228E93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7/15/26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78ACE3-DCBA-8C4A-B72E-6AE01B21CF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38EB6A-8D33-DB46-9B42-25FE7D51F8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021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3" r:id="rId1"/>
    <p:sldLayoutId id="2147483884" r:id="rId2"/>
    <p:sldLayoutId id="2147483885" r:id="rId3"/>
    <p:sldLayoutId id="2147483886" r:id="rId4"/>
    <p:sldLayoutId id="2147483887" r:id="rId5"/>
    <p:sldLayoutId id="2147483888" r:id="rId6"/>
    <p:sldLayoutId id="2147483889" r:id="rId7"/>
    <p:sldLayoutId id="2147483890" r:id="rId8"/>
    <p:sldLayoutId id="2147483891" r:id="rId9"/>
    <p:sldLayoutId id="2147483892" r:id="rId10"/>
    <p:sldLayoutId id="2147483893" r:id="rId11"/>
    <p:sldLayoutId id="2147483894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 1"/>
          <p:cNvSpPr/>
          <p:nvPr/>
        </p:nvSpPr>
        <p:spPr/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DD53B32-4425-4646-A8AB-FDB368A732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366010"/>
            <a:ext cx="914400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Presentation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t>Problem Statement</a:t>
            </a:r>
          </a:p>
          <a:p>
            <a:pPr lvl="0"/>
            <a:r>
              <a:t>Objectives</a:t>
            </a:r>
          </a:p>
          <a:p>
            <a:pPr lvl="0"/>
            <a:r>
              <a:t>Existing System &amp; Literature Review</a:t>
            </a:r>
          </a:p>
          <a:p>
            <a:pPr lvl="0"/>
            <a:r>
              <a:t>Proposed System &amp; Architecture</a:t>
            </a:r>
          </a:p>
          <a:p>
            <a:pPr lvl="0"/>
            <a:r>
              <a:t>Implementation</a:t>
            </a:r>
          </a:p>
          <a:p>
            <a:pPr lvl="0"/>
            <a:r>
              <a:t>System Design (DFDs, Class Diagram, ERD)</a:t>
            </a:r>
          </a:p>
          <a:p>
            <a:pPr lvl="0"/>
            <a:r>
              <a:t>Results &amp; Outputs</a:t>
            </a:r>
          </a:p>
          <a:p>
            <a:pPr lvl="0"/>
            <a:r>
              <a:t>Testing</a:t>
            </a:r>
          </a:p>
          <a:p>
            <a:pPr lvl="0"/>
            <a:r>
              <a:t>Conclusion &amp; Future Scope</a:t>
            </a:r>
          </a:p>
          <a:p>
            <a:pPr lvl="0"/>
            <a: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36675373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t>Organizations manage large volumes of unstructured HR documents: resumes, job descriptions, reports, and scanned correspondence.</a:t>
            </a:r>
          </a:p>
          <a:p>
            <a:pPr lvl="0"/>
            <a:r>
              <a:t>Manual document review is slow, labour-intensive, and inconsistent; HR teams spend most of their time reviewing resumes, around 23 hours to fill a single position.</a:t>
            </a:r>
          </a:p>
          <a:p>
            <a:pPr lvl="0"/>
            <a:r>
              <a:t>Keyword search matches literal words, not meaning, so a search for “machine learning engineer” misses an “ML researcher”.</a:t>
            </a:r>
          </a:p>
          <a:p>
            <a:pPr lvl="0"/>
            <a:r>
              <a:t>Existing tools rarely answer plain-language questions over a company’s own documents with any proof of where the answer came from.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Ingest and process heterogeneous documents (PDF, Word, scanned images) with OCR text extraction.</a:t>
            </a:r>
          </a:p>
          <a:p>
            <a:pPr lvl="0"/>
            <a:r>
              <a:t>Enable semantic search and retrieval over the document collection.</a:t>
            </a:r>
          </a:p>
          <a:p>
            <a:pPr lvl="0"/>
            <a:r>
              <a:t>Provide grounded question answering via Retrieval-Augmented Generation (RAG) with source citations.</a:t>
            </a:r>
          </a:p>
          <a:p>
            <a:pPr lvl="0"/>
            <a:r>
              <a:t>Automate resume screening and ranking against defined job criteria.</a:t>
            </a:r>
          </a:p>
          <a:p>
            <a:pPr lvl="0"/>
            <a:r>
              <a:t>Automate candidate intake from Gmail and reporting.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Existing System &amp; Literature Review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28650" y="1370013"/>
          <a:ext cx="7928430" cy="3634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1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1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14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14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14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System / Approach</a:t>
                      </a:r>
                    </a:p>
                  </a:txBody>
                  <a:tcPr marL="100149" marR="100149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Semantic Retrieval</a:t>
                      </a:r>
                    </a:p>
                  </a:txBody>
                  <a:tcPr marL="100149" marR="100149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Natural-Language Q&amp;A</a:t>
                      </a:r>
                    </a:p>
                  </a:txBody>
                  <a:tcPr marL="100149" marR="100149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Automated Ranking</a:t>
                      </a:r>
                    </a:p>
                  </a:txBody>
                  <a:tcPr marL="100149" marR="100149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Provenance / Citations</a:t>
                      </a:r>
                    </a:p>
                  </a:txBody>
                  <a:tcPr marL="100149" marR="100149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Open / On-Premise</a:t>
                      </a:r>
                    </a:p>
                  </a:txBody>
                  <a:tcPr marL="100149" marR="10014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Traditional ATS (Greenhouse, Workday)</a:t>
                      </a:r>
                    </a:p>
                  </a:txBody>
                  <a:tcPr marL="100149" marR="100149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No (keyword)</a:t>
                      </a:r>
                    </a:p>
                  </a:txBody>
                  <a:tcPr marL="100149" marR="100149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No</a:t>
                      </a:r>
                    </a:p>
                  </a:txBody>
                  <a:tcPr marL="100149" marR="100149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Rule-based only</a:t>
                      </a:r>
                    </a:p>
                  </a:txBody>
                  <a:tcPr marL="100149" marR="100149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Limited</a:t>
                      </a:r>
                    </a:p>
                  </a:txBody>
                  <a:tcPr marL="100149" marR="100149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Mostly cloud</a:t>
                      </a:r>
                    </a:p>
                  </a:txBody>
                  <a:tcPr marL="100149" marR="10014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AI recruitment (Eightfold AI)</a:t>
                      </a:r>
                    </a:p>
                  </a:txBody>
                  <a:tcPr marL="100149" marR="100149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Yes</a:t>
                      </a:r>
                    </a:p>
                  </a:txBody>
                  <a:tcPr marL="100149" marR="100149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Limited</a:t>
                      </a:r>
                    </a:p>
                  </a:txBody>
                  <a:tcPr marL="100149" marR="100149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Yes (ML)</a:t>
                      </a:r>
                    </a:p>
                  </a:txBody>
                  <a:tcPr marL="100149" marR="100149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Weak</a:t>
                      </a:r>
                    </a:p>
                  </a:txBody>
                  <a:tcPr marL="100149" marR="100149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No (proprietary)</a:t>
                      </a:r>
                    </a:p>
                  </a:txBody>
                  <a:tcPr marL="100149" marR="10014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Cloud Document AI</a:t>
                      </a:r>
                    </a:p>
                  </a:txBody>
                  <a:tcPr marL="100149" marR="100149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Partial</a:t>
                      </a:r>
                    </a:p>
                  </a:txBody>
                  <a:tcPr marL="100149" marR="100149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No</a:t>
                      </a:r>
                    </a:p>
                  </a:txBody>
                  <a:tcPr marL="100149" marR="100149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No</a:t>
                      </a:r>
                    </a:p>
                  </a:txBody>
                  <a:tcPr marL="100149" marR="100149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N/A</a:t>
                      </a:r>
                    </a:p>
                  </a:txBody>
                  <a:tcPr marL="100149" marR="100149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No (cloud)</a:t>
                      </a:r>
                    </a:p>
                  </a:txBody>
                  <a:tcPr marL="100149" marR="10014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RAG frameworks (LangChain)</a:t>
                      </a:r>
                    </a:p>
                  </a:txBody>
                  <a:tcPr marL="100149" marR="100149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Yes</a:t>
                      </a:r>
                    </a:p>
                  </a:txBody>
                  <a:tcPr marL="100149" marR="100149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Yes</a:t>
                      </a:r>
                    </a:p>
                  </a:txBody>
                  <a:tcPr marL="100149" marR="100149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Not HR-specific</a:t>
                      </a:r>
                    </a:p>
                  </a:txBody>
                  <a:tcPr marL="100149" marR="100149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Yes (if built)</a:t>
                      </a:r>
                    </a:p>
                  </a:txBody>
                  <a:tcPr marL="100149" marR="100149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Yes (self-host)</a:t>
                      </a:r>
                    </a:p>
                  </a:txBody>
                  <a:tcPr marL="100149" marR="10014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Hireflow (proposed)</a:t>
                      </a:r>
                    </a:p>
                  </a:txBody>
                  <a:tcPr marL="100149" marR="100149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Yes</a:t>
                      </a:r>
                    </a:p>
                  </a:txBody>
                  <a:tcPr marL="100149" marR="100149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Yes</a:t>
                      </a:r>
                    </a:p>
                  </a:txBody>
                  <a:tcPr marL="100149" marR="100149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Yes (weighted)</a:t>
                      </a:r>
                    </a:p>
                  </a:txBody>
                  <a:tcPr marL="100149" marR="100149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Yes (typed)</a:t>
                      </a:r>
                    </a:p>
                  </a:txBody>
                  <a:tcPr marL="100149" marR="100149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Yes</a:t>
                      </a:r>
                    </a:p>
                  </a:txBody>
                  <a:tcPr marL="100149" marR="100149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Proposed System &amp;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b="1"/>
              <a:t>Frontend &amp; Backend:</a:t>
            </a:r>
            <a:r>
              <a:t> React 19 (TypeScript) single-page app with a layered FastAPI (Python) backend.</a:t>
            </a:r>
          </a:p>
          <a:p>
            <a:pPr lvl="0"/>
            <a:r>
              <a:rPr b="1"/>
              <a:t>Document Processing:</a:t>
            </a:r>
            <a:r>
              <a:t> PDF, Word, scanned documents, and Gmail attachments processed with PyMuPDF and Tesseract OCR.</a:t>
            </a:r>
          </a:p>
          <a:p>
            <a:pPr lvl="0"/>
            <a:r>
              <a:rPr b="1"/>
              <a:t>Semantic Search:</a:t>
            </a:r>
            <a:r>
              <a:t> extracted text is chunked, embedded with sentence-transformers, and stored in ChromaDB.</a:t>
            </a:r>
          </a:p>
          <a:p>
            <a:pPr lvl="0"/>
            <a:r>
              <a:rPr b="1"/>
              <a:t>RAG Question Answering:</a:t>
            </a:r>
            <a:r>
              <a:t> retrieved context is supplied to an LLM (Anthropic Claude) to generate accurate, source-cited answers.</a:t>
            </a:r>
          </a:p>
          <a:p>
            <a:pPr lvl="0"/>
            <a:r>
              <a:rPr b="1"/>
              <a:t>AI-Powered HR Screening:</a:t>
            </a:r>
            <a:r>
              <a:t> candidates are scored and ranked against job criteria with a transparent, weighted breakdown.</a:t>
            </a:r>
          </a:p>
          <a:p>
            <a:pPr lvl="0"/>
            <a:r>
              <a:rPr b="1"/>
              <a:t>Data Storage &amp; Security:</a:t>
            </a:r>
            <a:r>
              <a:t> PostgreSQL for application data, MinIO for files, Redis and Celery for async processing; JWT auth with per-user data isolation.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System Architecture</a:t>
            </a:r>
          </a:p>
        </p:txBody>
      </p:sp>
      <p:pic>
        <p:nvPicPr>
          <p:cNvPr id="3" name="Picture 1" descr="src/images/architecture_diagram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47902" y="1009224"/>
            <a:ext cx="6048195" cy="3963258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t>Product vision and system design</a:t>
            </a:r>
          </a:p>
          <a:p>
            <a:pPr lvl="0"/>
            <a:r>
              <a:t>Frontend design and implementation (React 19, TypeScript, Tailwind, shadcn/ui)</a:t>
            </a:r>
          </a:p>
          <a:p>
            <a:pPr lvl="0"/>
            <a:r>
              <a:t>Backend design and implementation (layered FastAPI: API, Service, Domain, Adapter)</a:t>
            </a:r>
          </a:p>
          <a:p>
            <a:pPr lvl="0"/>
            <a:r>
              <a:t>Asynchronous document-processing pipeline (Celery worker)</a:t>
            </a:r>
          </a:p>
          <a:p>
            <a:pPr lvl="0"/>
            <a:r>
              <a:t>Hybrid search and RAG engine</a:t>
            </a:r>
          </a:p>
          <a:p>
            <a:pPr lvl="0"/>
            <a:r>
              <a:t>Software testing</a:t>
            </a:r>
          </a:p>
          <a:p>
            <a:pPr lvl="0"/>
            <a:r>
              <a:t>Containerization of the system (Docker)</a:t>
            </a:r>
          </a:p>
          <a:p>
            <a:pPr lvl="0"/>
            <a:r>
              <a:t>User-manual preparation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DFD Level 0</a:t>
            </a:r>
          </a:p>
        </p:txBody>
      </p:sp>
      <p:pic>
        <p:nvPicPr>
          <p:cNvPr id="3" name="Picture 1" descr="src/images/dfd_level_0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47710" y="1268016"/>
            <a:ext cx="8448579" cy="3114203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 descr="src/images/dfd_level_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28858" y="273844"/>
            <a:ext cx="6928878" cy="4746731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013" y="178954"/>
            <a:ext cx="7886700" cy="994172"/>
          </a:xfrm>
        </p:spPr>
        <p:txBody>
          <a:bodyPr/>
          <a:lstStyle/>
          <a:p>
            <a:pPr marL="0" lvl="0" indent="0">
              <a:buNone/>
            </a:pPr>
            <a:r>
              <a:rPr dirty="0"/>
              <a:t>DFD Level 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 descr="src/images/class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55774" y="972629"/>
            <a:ext cx="7432452" cy="4170871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78954"/>
            <a:ext cx="7886700" cy="994172"/>
          </a:xfrm>
        </p:spPr>
        <p:txBody>
          <a:bodyPr/>
          <a:lstStyle/>
          <a:p>
            <a:pPr marL="0" lvl="0" indent="0">
              <a:buNone/>
            </a:pPr>
            <a:r>
              <a:rPr dirty="0"/>
              <a:t>Class Diagram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 descr="src/images/erd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12175" y="972627"/>
            <a:ext cx="8519650" cy="4170873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78953"/>
            <a:ext cx="7886700" cy="994172"/>
          </a:xfrm>
        </p:spPr>
        <p:txBody>
          <a:bodyPr/>
          <a:lstStyle/>
          <a:p>
            <a:pPr marL="0" lvl="0" indent="0">
              <a:buNone/>
            </a:pPr>
            <a:r>
              <a:rPr dirty="0"/>
              <a:t>Database Design (ERD)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78954"/>
            <a:ext cx="7886700" cy="994172"/>
          </a:xfrm>
        </p:spPr>
        <p:txBody>
          <a:bodyPr/>
          <a:lstStyle/>
          <a:p>
            <a:pPr marL="0" lvl="0" indent="0">
              <a:buNone/>
            </a:pPr>
            <a:r>
              <a:rPr dirty="0"/>
              <a:t>User Interface</a:t>
            </a:r>
            <a:r>
              <a:rPr lang="en-US" dirty="0"/>
              <a:t>: Dashboard</a:t>
            </a:r>
            <a:endParaRPr dirty="0"/>
          </a:p>
        </p:txBody>
      </p:sp>
      <p:pic>
        <p:nvPicPr>
          <p:cNvPr id="3" name="Picture 1" descr="src/images/screenshots/home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66415" y="895844"/>
            <a:ext cx="7409004" cy="4168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49" y="178954"/>
            <a:ext cx="7886700" cy="994172"/>
          </a:xfrm>
        </p:spPr>
        <p:txBody>
          <a:bodyPr/>
          <a:lstStyle/>
          <a:p>
            <a:pPr marL="0" lvl="0" indent="0">
              <a:buNone/>
            </a:pPr>
            <a:r>
              <a:rPr dirty="0"/>
              <a:t>User Interface</a:t>
            </a:r>
            <a:r>
              <a:rPr lang="en-US" dirty="0"/>
              <a:t>: Search</a:t>
            </a:r>
            <a:endParaRPr dirty="0"/>
          </a:p>
        </p:txBody>
      </p:sp>
      <p:pic>
        <p:nvPicPr>
          <p:cNvPr id="3" name="Picture 1" descr="src/images/screenshots/search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67497" y="974700"/>
            <a:ext cx="7409005" cy="4168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144" y="178954"/>
            <a:ext cx="7886700" cy="994172"/>
          </a:xfrm>
        </p:spPr>
        <p:txBody>
          <a:bodyPr/>
          <a:lstStyle/>
          <a:p>
            <a:pPr marL="0" lvl="0" indent="0">
              <a:buNone/>
            </a:pPr>
            <a:r>
              <a:rPr dirty="0"/>
              <a:t>User Interface</a:t>
            </a:r>
            <a:r>
              <a:rPr lang="en-US" dirty="0"/>
              <a:t>: </a:t>
            </a:r>
            <a:r>
              <a:rPr dirty="0"/>
              <a:t>Ask (RAG Q&amp;A)</a:t>
            </a:r>
          </a:p>
        </p:txBody>
      </p:sp>
      <p:pic>
        <p:nvPicPr>
          <p:cNvPr id="3" name="Picture 1" descr="src/images/screenshots/ask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2991" y="912244"/>
            <a:ext cx="7409005" cy="4168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78953"/>
            <a:ext cx="7886700" cy="994172"/>
          </a:xfrm>
        </p:spPr>
        <p:txBody>
          <a:bodyPr/>
          <a:lstStyle/>
          <a:p>
            <a:pPr marL="0" lvl="0" indent="0">
              <a:buNone/>
            </a:pPr>
            <a:r>
              <a:rPr dirty="0"/>
              <a:t>User Interface</a:t>
            </a:r>
            <a:r>
              <a:rPr lang="en-US" dirty="0"/>
              <a:t>:</a:t>
            </a:r>
            <a:r>
              <a:rPr dirty="0"/>
              <a:t> Candidate Screening</a:t>
            </a:r>
          </a:p>
        </p:txBody>
      </p:sp>
      <p:pic>
        <p:nvPicPr>
          <p:cNvPr id="3" name="Picture 1" descr="src/images/screenshots/candidates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67497" y="912244"/>
            <a:ext cx="7409005" cy="4168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Results &amp; Outputs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Retrieval latency:</a:t>
            </a:r>
            <a:r>
              <a:t> hybrid search 72 ms median, 167 ms at the 95th percentile (server-side).</a:t>
            </a:r>
          </a:p>
          <a:p>
            <a:pPr lvl="0"/>
            <a:r>
              <a:rPr b="1"/>
              <a:t>Ingestion throughput:</a:t>
            </a:r>
            <a:r>
              <a:t> about 44 s per text PDF to READY, about 4.1 s per scanned page; roughly 1.5 documents / minute at worker concurrency 1.</a:t>
            </a:r>
          </a:p>
          <a:p>
            <a:pPr lvl="0"/>
            <a:r>
              <a:rPr b="1"/>
              <a:t>Embedding &amp; LLM response:</a:t>
            </a:r>
            <a:r>
              <a:t> 0.57 ms per chunk on GPU; RAG time-to-first-token about 947 ms; full streamed answer about 1.5 s.</a:t>
            </a:r>
          </a:p>
          <a:p>
            <a:pPr lvl="0"/>
            <a:r>
              <a:rPr b="1"/>
              <a:t>Prototype:</a:t>
            </a:r>
            <a:r>
              <a:t> 31 working REST API endpoints; grounded, source-cited answers; out-of-scope questions refused instead of hallucinated.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Unit testing</a:t>
            </a:r>
            <a:r>
              <a:t> of domain logic and services with in-memory fakes (no database or Docker required).</a:t>
            </a:r>
          </a:p>
          <a:p>
            <a:pPr lvl="0"/>
            <a:r>
              <a:rPr b="1"/>
              <a:t>Integration &amp; API testing</a:t>
            </a:r>
            <a:r>
              <a:t> driving full request/response cycles through FastAPI against real backing services.</a:t>
            </a:r>
          </a:p>
          <a:p>
            <a:pPr lvl="0"/>
            <a:r>
              <a:rPr b="1"/>
              <a:t>Manual &amp; UAT-style testing</a:t>
            </a:r>
            <a:r>
              <a:t> through the browser and curl for interactive surfaces (streaming chat, drag-and-drop, keyboard navigation).</a:t>
            </a:r>
          </a:p>
          <a:p>
            <a:pPr lvl="0"/>
            <a:r>
              <a:rPr b="1"/>
              <a:t>Static analysis and linting</a:t>
            </a:r>
            <a:r>
              <a:t> (ruff, ESLint) run before every commit.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Testing</a:t>
            </a:r>
            <a:r>
              <a:rPr lang="en-US" dirty="0"/>
              <a:t>: </a:t>
            </a:r>
            <a:r>
              <a:rPr dirty="0"/>
              <a:t>Key Test Cases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28650" y="1370013"/>
          <a:ext cx="7900608" cy="3314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5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5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51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51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Test Case</a:t>
                      </a:r>
                    </a:p>
                  </a:txBody>
                  <a:tcPr marL="100149" marR="100149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Scenario</a:t>
                      </a:r>
                    </a:p>
                  </a:txBody>
                  <a:tcPr marL="100149" marR="100149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Expected Result</a:t>
                      </a:r>
                    </a:p>
                  </a:txBody>
                  <a:tcPr marL="100149" marR="100149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Status</a:t>
                      </a:r>
                    </a:p>
                  </a:txBody>
                  <a:tcPr marL="100149" marR="10014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TC-AUTH-006</a:t>
                      </a:r>
                    </a:p>
                  </a:txBody>
                  <a:tcPr marL="100149" marR="100149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Login with valid credentials</a:t>
                      </a:r>
                    </a:p>
                  </a:txBody>
                  <a:tcPr marL="100149" marR="100149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HTTP 200; access + refresh tokens issued</a:t>
                      </a:r>
                    </a:p>
                  </a:txBody>
                  <a:tcPr marL="100149" marR="100149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Pass</a:t>
                      </a:r>
                    </a:p>
                  </a:txBody>
                  <a:tcPr marL="100149" marR="10014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TC-DOCS-001</a:t>
                      </a:r>
                    </a:p>
                  </a:txBody>
                  <a:tcPr marL="100149" marR="100149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Upload PDF appears as ready</a:t>
                      </a:r>
                    </a:p>
                  </a:txBody>
                  <a:tcPr marL="100149" marR="100149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Status reaches </a:t>
                      </a:r>
                      <a:r>
                        <a:rPr>
                          <a:latin typeface="Courier"/>
                        </a:rPr>
                        <a:t>ready</a:t>
                      </a:r>
                      <a:r>
                        <a:t> within 60 s</a:t>
                      </a:r>
                    </a:p>
                  </a:txBody>
                  <a:tcPr marL="100149" marR="100149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Pass</a:t>
                      </a:r>
                    </a:p>
                  </a:txBody>
                  <a:tcPr marL="100149" marR="10014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TC-DOCS-046</a:t>
                      </a:r>
                    </a:p>
                  </a:txBody>
                  <a:tcPr marL="100149" marR="100149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Auto-candidate from a resume</a:t>
                      </a:r>
                    </a:p>
                  </a:txBody>
                  <a:tcPr marL="100149" marR="100149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Candidate created on the on-ready hook</a:t>
                      </a:r>
                    </a:p>
                  </a:txBody>
                  <a:tcPr marL="100149" marR="100149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Pass</a:t>
                      </a:r>
                    </a:p>
                  </a:txBody>
                  <a:tcPr marL="100149" marR="10014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TC-SEARCH-005</a:t>
                      </a:r>
                    </a:p>
                  </a:txBody>
                  <a:tcPr marL="100149" marR="100149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HR user sees only own documents</a:t>
                      </a:r>
                    </a:p>
                  </a:txBody>
                  <a:tcPr marL="100149" marR="100149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Owner scope enforced; empty result set</a:t>
                      </a:r>
                    </a:p>
                  </a:txBody>
                  <a:tcPr marL="100149" marR="100149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Pass</a:t>
                      </a:r>
                    </a:p>
                  </a:txBody>
                  <a:tcPr marL="100149" marR="10014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TC-RAG-001</a:t>
                      </a:r>
                    </a:p>
                  </a:txBody>
                  <a:tcPr marL="100149" marR="100149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Grounded answer with citations</a:t>
                      </a:r>
                    </a:p>
                  </a:txBody>
                  <a:tcPr marL="100149" marR="100149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Answer cites at least one source</a:t>
                      </a:r>
                    </a:p>
                  </a:txBody>
                  <a:tcPr marL="100149" marR="100149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Pass</a:t>
                      </a:r>
                    </a:p>
                  </a:txBody>
                  <a:tcPr marL="100149" marR="100149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TC-RAG-002</a:t>
                      </a:r>
                    </a:p>
                  </a:txBody>
                  <a:tcPr marL="100149" marR="100149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Out-of-scope question</a:t>
                      </a:r>
                    </a:p>
                  </a:txBody>
                  <a:tcPr marL="100149" marR="100149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Exact sentinel; no fabricated citations</a:t>
                      </a:r>
                    </a:p>
                  </a:txBody>
                  <a:tcPr marL="100149" marR="100149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Pass</a:t>
                      </a:r>
                    </a:p>
                  </a:txBody>
                  <a:tcPr marL="100149" marR="100149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Successfully developed an AI-powered HR platform that automates document processing, semantic retrieval, and resume screening.</a:t>
            </a:r>
          </a:p>
          <a:p>
            <a:pPr lvl="0"/>
            <a:r>
              <a:t>Implemented RAG-based document retrieval with source-cited answers, improving search accuracy and reducing manual effort.</a:t>
            </a:r>
          </a:p>
          <a:p>
            <a:pPr lvl="0"/>
            <a:r>
              <a:t>Automated the recruitment workflow through AI-based candidate ranking, Gmail resume synchronisation, and shortlist generation.</a:t>
            </a:r>
          </a:p>
          <a:p>
            <a:pPr lvl="0"/>
            <a:r>
              <a:t>Designed a scalable, modular architecture with interchangeable AI components, ensuring maintainability and future extensibility.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Enhance security with login rate-limiting, token revocation, and stronger file validation.</a:t>
            </a:r>
          </a:p>
          <a:p>
            <a:pPr lvl="0"/>
            <a:r>
              <a:t>Expand functionality with multilingual support, ATS integration, analytics dashboards, and real-time notifications.</a:t>
            </a:r>
          </a:p>
          <a:p>
            <a:pPr lvl="0"/>
            <a:r>
              <a:t>Improve performance through quantitative benchmarking and domain-specific AI models for retrieval and ranking.</a:t>
            </a:r>
          </a:p>
          <a:p>
            <a:pPr lvl="0"/>
            <a:r>
              <a:t>Increase accessibility with a native mobile application for recruiters.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Lewis, P., et al. (2020). Retrieval-Augmented Generation for Knowledge-Intensive NLP Tasks. </a:t>
            </a:r>
            <a:r>
              <a:rPr i="1"/>
              <a:t>NeurIPS 33</a:t>
            </a:r>
            <a:r>
              <a:t>, 9459–9474.</a:t>
            </a:r>
          </a:p>
          <a:p>
            <a:pPr lvl="0"/>
            <a:r>
              <a:t>Reimers, N., &amp; Gurevych, I. (2019). Sentence-BERT: Sentence Embeddings using Siamese BERT-Networks. </a:t>
            </a:r>
            <a:r>
              <a:rPr i="1"/>
              <a:t>EMNLP</a:t>
            </a:r>
            <a:r>
              <a:t>.</a:t>
            </a:r>
          </a:p>
          <a:p>
            <a:pPr lvl="0"/>
            <a:r>
              <a:t>Vaswani, A., et al. (2017). Attention Is All You Need. </a:t>
            </a:r>
            <a:r>
              <a:rPr i="1"/>
              <a:t>NeurIPS 30</a:t>
            </a:r>
            <a:r>
              <a:t>.</a:t>
            </a:r>
          </a:p>
          <a:p>
            <a:pPr lvl="0"/>
            <a:r>
              <a:t>Johnson, J., Douze, M., &amp; Jégou, H. (2019). Billion-scale Similarity Search with GPUs (FAISS). </a:t>
            </a:r>
            <a:r>
              <a:rPr i="1"/>
              <a:t>IEEE TBD</a:t>
            </a:r>
            <a:r>
              <a:t>.</a:t>
            </a:r>
          </a:p>
          <a:p>
            <a:pPr lvl="0"/>
            <a:r>
              <a:t>Smith, R. (2007). An Overview of the Tesseract OCR Engine. </a:t>
            </a:r>
            <a:r>
              <a:rPr i="1"/>
              <a:t>ICDAR</a:t>
            </a:r>
            <a:r>
              <a:t>.</a:t>
            </a:r>
          </a:p>
          <a:p>
            <a:pPr lvl="0"/>
            <a:r>
              <a:t>Anthropic. (n.d.). </a:t>
            </a:r>
            <a:r>
              <a:rPr i="1"/>
              <a:t>Claude Documentation.</a:t>
            </a:r>
            <a:r>
              <a:t> docs.anthropic.com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22C1417-3983-804D-A9A2-1945B79DD3D0}"/>
              </a:ext>
            </a:extLst>
          </p:cNvPr>
          <p:cNvSpPr txBox="1"/>
          <p:nvPr/>
        </p:nvSpPr>
        <p:spPr>
          <a:xfrm>
            <a:off x="2452670" y="1971586"/>
            <a:ext cx="423866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-Times New Roman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Words>1027</Words>
  <Application>Microsoft Macintosh PowerPoint</Application>
  <PresentationFormat>On-screen Show (16:9)</PresentationFormat>
  <Paragraphs>141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Courier</vt:lpstr>
      <vt:lpstr>Times New Roman</vt:lpstr>
      <vt:lpstr>Office Theme</vt:lpstr>
      <vt:lpstr>PowerPoint Presentation</vt:lpstr>
      <vt:lpstr>PowerPoint Presentation</vt:lpstr>
      <vt:lpstr>Presentation Layout</vt:lpstr>
      <vt:lpstr>Problem Statement</vt:lpstr>
      <vt:lpstr>Objectives</vt:lpstr>
      <vt:lpstr>Existing System &amp; Literature Review</vt:lpstr>
      <vt:lpstr>Proposed System &amp; Architecture</vt:lpstr>
      <vt:lpstr>System Architecture</vt:lpstr>
      <vt:lpstr>Implementation</vt:lpstr>
      <vt:lpstr>DFD Level 0</vt:lpstr>
      <vt:lpstr>DFD Level 1</vt:lpstr>
      <vt:lpstr>Class Diagram</vt:lpstr>
      <vt:lpstr>Database Design (ERD)</vt:lpstr>
      <vt:lpstr>User Interface: Dashboard</vt:lpstr>
      <vt:lpstr>User Interface: Search</vt:lpstr>
      <vt:lpstr>User Interface: Ask (RAG Q&amp;A)</vt:lpstr>
      <vt:lpstr>User Interface: Candidate Screening</vt:lpstr>
      <vt:lpstr>Results &amp; Outputs</vt:lpstr>
      <vt:lpstr>Testing</vt:lpstr>
      <vt:lpstr>Testing: Key Test Cases</vt:lpstr>
      <vt:lpstr>Conclusion</vt:lpstr>
      <vt:lpstr>Future Scope</vt:lpstr>
      <vt:lpstr>References</vt:lpstr>
      <vt:lpstr>PowerPoint Presentation</vt:lpstr>
    </vt:vector>
  </TitlesOfParts>
  <LinksUpToDate>false</LinksUpToDate>
  <SharedDoc>false</SharedDoc>
  <HyperlinksChanged>false</HyperlinksChanged>
  <AppVersion>16.0016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emplate>{A4114FC8-8243-0C4E-A4C9-52C0D20216B8}tf10001072</Template>
  <TotalTime>44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Franklin Gothic Book</vt:lpstr>
      <vt:lpstr>Times New Roman</vt:lpstr>
      <vt:lpstr>Crop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Powered HR Screening and Document Retrieval System Using RAG</dc:title>
  <dc:creator>Amna Ikram (2022-UET-ShCET-LHR-CS-02); Zain Ul Hassan (2022-UET-ShCET-LHR-CS-12); Ezza Ansar (2022-UET-ShCET-LHR-CS-13); Supervisor: Ms. Hirra Mustafa | Co-Supervisor: Dr. Mazhar Iqbal</dc:creator>
  <cp:keywords/>
  <cp:lastModifiedBy>Microsoft Office User</cp:lastModifiedBy>
  <cp:revision>19</cp:revision>
  <dcterms:created xsi:type="dcterms:W3CDTF">2026-07-14T20:47:08Z</dcterms:created>
  <dcterms:modified xsi:type="dcterms:W3CDTF">2026-07-14T21:12:59Z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subtitle">
    <vt:lpwstr>Final Year Project — Computer Science, Batch-13, Group #5</vt:lpwstr>
  </property>
  <property fmtid="{D5CDD505-2E9C-101B-9397-08002B2CF9AE}" pid="10" name="toc-title">
    <vt:lpwstr>Table of contents</vt:lpwstr>
  </property>
</Properties>
</file>