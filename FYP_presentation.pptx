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8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2"/>
    <p:restoredTop autoAdjust="0" sz="94720"/>
  </p:normalViewPr>
  <p:slideViewPr>
    <p:cSldViewPr snapToGrid="0" snapToObjects="1">
      <p:cViewPr varScale="1">
        <p:scale>
          <a:sx d="100" n="185"/>
          <a:sy d="100" n="185"/>
        </p:scale>
        <p:origin x="328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88653E0-C679-7C40-9B1B-A3BFFD8878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005" y="408723"/>
            <a:ext cx="1231001" cy="12371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909FBA-ACB8-214D-BFFD-0FA034D20B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007" y="309269"/>
            <a:ext cx="1463587" cy="14361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FC5D91-3A52-6C47-A934-DCD971F7AFF5}"/>
              </a:ext>
            </a:extLst>
          </p:cNvPr>
          <p:cNvSpPr txBox="1"/>
          <p:nvPr userDrawn="1"/>
        </p:nvSpPr>
        <p:spPr>
          <a:xfrm>
            <a:off x="1761006" y="408723"/>
            <a:ext cx="5648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Sharif College of Engineering and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65950C-EE00-0349-8819-FCE5A7D52045}"/>
              </a:ext>
            </a:extLst>
          </p:cNvPr>
          <p:cNvSpPr txBox="1"/>
          <p:nvPr userDrawn="1"/>
        </p:nvSpPr>
        <p:spPr>
          <a:xfrm>
            <a:off x="1056039" y="1357280"/>
            <a:ext cx="705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EE61C9-BD38-ED42-B493-0161A3F97A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8531227"/>
              </p:ext>
            </p:extLst>
          </p:nvPr>
        </p:nvGraphicFramePr>
        <p:xfrm>
          <a:off x="1537403" y="2971732"/>
          <a:ext cx="609600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6026059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25663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Roll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51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2022-UET-SHCET-LHR-CS-02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Amna</a:t>
                      </a:r>
                      <a:r>
                        <a:rPr lang="en-US"/>
                        <a:t> Ikram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61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2022-UET-SHCET-LHR-CS-12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Zain </a:t>
                      </a:r>
                      <a:r>
                        <a:rPr lang="en-US" err="1"/>
                        <a:t>Ul</a:t>
                      </a:r>
                      <a:r>
                        <a:rPr lang="en-US"/>
                        <a:t> Hassan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003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2022-UET-SHCET-LHR-CS-13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Ezza</a:t>
                      </a:r>
                      <a:r>
                        <a:rPr lang="en-US" dirty="0"/>
                        <a:t> Ansar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06713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FB79AC2-6DD8-DA4B-B454-2C6E1CD87563}"/>
              </a:ext>
            </a:extLst>
          </p:cNvPr>
          <p:cNvSpPr txBox="1"/>
          <p:nvPr userDrawn="1"/>
        </p:nvSpPr>
        <p:spPr>
          <a:xfrm>
            <a:off x="1537403" y="4546005"/>
            <a:ext cx="26420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Supervisor: </a:t>
            </a:r>
            <a:r>
              <a:rPr lang="en-US" sz="1400" dirty="0"/>
              <a:t>Ms. </a:t>
            </a:r>
            <a:r>
              <a:rPr lang="en-US" sz="1400" dirty="0" err="1"/>
              <a:t>Hirra</a:t>
            </a:r>
            <a:r>
              <a:rPr lang="en-US" sz="1400" dirty="0"/>
              <a:t> Mustafa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0D3BD5-0EB1-9A4E-A483-43BA53E3A3DA}"/>
              </a:ext>
            </a:extLst>
          </p:cNvPr>
          <p:cNvSpPr txBox="1"/>
          <p:nvPr userDrawn="1"/>
        </p:nvSpPr>
        <p:spPr>
          <a:xfrm>
            <a:off x="4813656" y="4546005"/>
            <a:ext cx="2819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/>
              <a:t>Co-supervisor: </a:t>
            </a:r>
            <a:r>
              <a:rPr lang="en-US" sz="1400" dirty="0"/>
              <a:t>Dr. Mazhar Iqbal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9EC6C1-966E-7443-88D2-A4A4A4011549}"/>
              </a:ext>
            </a:extLst>
          </p:cNvPr>
          <p:cNvSpPr/>
          <p:nvPr userDrawn="1"/>
        </p:nvSpPr>
        <p:spPr>
          <a:xfrm>
            <a:off x="1518920" y="1943626"/>
            <a:ext cx="61061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3600"/>
              </a:spcAft>
            </a:pPr>
            <a:r>
              <a:rPr lang="en-US" sz="2400" b="1" kern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AI-Powered HR Screening and Document Retrieval System Using RAG</a:t>
            </a:r>
          </a:p>
        </p:txBody>
      </p:sp>
    </p:spTree>
    <p:extLst>
      <p:ext uri="{BB962C8B-B14F-4D97-AF65-F5344CB8AC3E}">
        <p14:creationId xmlns:p14="http://schemas.microsoft.com/office/powerpoint/2010/main" val="4143378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7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 anchor="b">
            <a:norm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3162246"/>
            <a:ext cx="7209728" cy="857493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4840039"/>
            <a:ext cx="1216807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4840039"/>
            <a:ext cx="5267533" cy="303461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6113972" y="1264239"/>
            <a:ext cx="2456260" cy="3306366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037131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1714500"/>
            <a:ext cx="3335840" cy="268605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1714500"/>
            <a:ext cx="3335840" cy="26860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3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1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1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0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1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6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514351"/>
            <a:ext cx="3909060" cy="3881438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2258"/>
            <a:ext cx="2891790" cy="225829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7198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51434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1976"/>
            <a:ext cx="2891790" cy="2258574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83510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721644"/>
            <a:ext cx="7200900" cy="26789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6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7421" y="468117"/>
            <a:ext cx="1174325" cy="39324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468117"/>
            <a:ext cx="6134731" cy="39324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2345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  <a:prstGeom prst="rect">
            <a:avLst/>
          </a:prstGeom>
        </p:spPr>
        <p:txBody>
          <a:bodyPr anchor="t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028700" y="1714500"/>
            <a:ext cx="7200900" cy="268605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1042987" y="4840039"/>
            <a:ext cx="903429" cy="30346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aseline="0" sz="900">
                <a:solidFill>
                  <a:schemeClr val="tx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1/4/26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2170173" y="4840039"/>
            <a:ext cx="4710623" cy="30346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aseline="0" sz="900">
                <a:solidFill>
                  <a:schemeClr val="tx2"/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7104552" y="4840039"/>
            <a:ext cx="1197219" cy="30346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aseline="0" sz="90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358571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4977908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txStyles>
    <p:titleStyle>
      <a:lvl1pPr algn="l" defTabSz="685800" eaLnBrk="1" hangingPunct="1" latinLnBrk="0" rtl="0">
        <a:lnSpc>
          <a:spcPct val="89000"/>
        </a:lnSpc>
        <a:spcBef>
          <a:spcPct val="0"/>
        </a:spcBef>
        <a:buNone/>
        <a:defRPr baseline="0" kern="1200" sz="33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algn="l" defTabSz="685800" eaLnBrk="1" hangingPunct="1" indent="-288036" latinLnBrk="0" marL="288036" rtl="0">
        <a:lnSpc>
          <a:spcPct val="94000"/>
        </a:lnSpc>
        <a:spcBef>
          <a:spcPts val="750"/>
        </a:spcBef>
        <a:spcAft>
          <a:spcPts val="150"/>
        </a:spcAft>
        <a:buFont charset="0" panose="020B0503020102020204" pitchFamily="34" typeface="Franklin Gothic Book"/>
        <a:buChar char="■"/>
        <a:defRPr baseline="0" kern="1200" sz="1500">
          <a:solidFill>
            <a:schemeClr val="tx2"/>
          </a:solidFill>
          <a:latin typeface="+mn-lt"/>
          <a:ea typeface="+mn-ea"/>
          <a:cs typeface="+mn-cs"/>
        </a:defRPr>
      </a:lvl1pPr>
      <a:lvl2pPr algn="l" defTabSz="685800" eaLnBrk="1" hangingPunct="1" indent="-288036" latinLnBrk="0" marL="6858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–"/>
        <a:defRPr baseline="0" i="1" kern="1200" sz="1500">
          <a:solidFill>
            <a:schemeClr val="tx2"/>
          </a:solidFill>
          <a:latin typeface="+mn-lt"/>
          <a:ea typeface="+mn-ea"/>
          <a:cs typeface="+mn-cs"/>
        </a:defRPr>
      </a:lvl2pPr>
      <a:lvl3pPr algn="l" defTabSz="685800" eaLnBrk="1" hangingPunct="1" indent="-288036" latinLnBrk="0" marL="10287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■"/>
        <a:defRPr baseline="0" kern="1200" sz="1350">
          <a:solidFill>
            <a:schemeClr val="tx2"/>
          </a:solidFill>
          <a:latin typeface="+mn-lt"/>
          <a:ea typeface="+mn-ea"/>
          <a:cs typeface="+mn-cs"/>
        </a:defRPr>
      </a:lvl3pPr>
      <a:lvl4pPr algn="l" defTabSz="685800" eaLnBrk="1" hangingPunct="1" indent="-288036" latinLnBrk="0" marL="13716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–"/>
        <a:defRPr baseline="0" i="1" kern="1200" sz="1350">
          <a:solidFill>
            <a:schemeClr val="tx2"/>
          </a:solidFill>
          <a:latin typeface="+mn-lt"/>
          <a:ea typeface="+mn-ea"/>
          <a:cs typeface="+mn-cs"/>
        </a:defRPr>
      </a:lvl4pPr>
      <a:lvl5pPr algn="l" defTabSz="685800" eaLnBrk="1" hangingPunct="1" indent="-288036" latinLnBrk="0" marL="17145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■"/>
        <a:defRPr baseline="0" kern="1200" sz="1200">
          <a:solidFill>
            <a:schemeClr val="tx2"/>
          </a:solidFill>
          <a:latin typeface="+mn-lt"/>
          <a:ea typeface="+mn-ea"/>
          <a:cs typeface="+mn-cs"/>
        </a:defRPr>
      </a:lvl5pPr>
      <a:lvl6pPr algn="l" defTabSz="685800" eaLnBrk="1" hangingPunct="1" indent="-288036" latinLnBrk="0" marL="20574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–"/>
        <a:defRPr baseline="0" i="1" kern="1200" sz="1200">
          <a:solidFill>
            <a:schemeClr val="tx2"/>
          </a:solidFill>
          <a:latin typeface="+mn-lt"/>
          <a:ea typeface="+mn-ea"/>
          <a:cs typeface="+mn-cs"/>
        </a:defRPr>
      </a:lvl6pPr>
      <a:lvl7pPr algn="l" defTabSz="685800" eaLnBrk="1" hangingPunct="1" indent="-288036" latinLnBrk="0" marL="24003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■"/>
        <a:defRPr baseline="0" kern="1200" sz="1050">
          <a:solidFill>
            <a:schemeClr val="tx2"/>
          </a:solidFill>
          <a:latin typeface="+mn-lt"/>
          <a:ea typeface="+mn-ea"/>
          <a:cs typeface="+mn-cs"/>
        </a:defRPr>
      </a:lvl7pPr>
      <a:lvl8pPr algn="l" defTabSz="685800" eaLnBrk="1" hangingPunct="1" indent="-288036" latinLnBrk="0" marL="27432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–"/>
        <a:defRPr baseline="0" i="1" kern="1200" sz="1050">
          <a:solidFill>
            <a:schemeClr val="tx2"/>
          </a:solidFill>
          <a:latin typeface="+mn-lt"/>
          <a:ea typeface="+mn-ea"/>
          <a:cs typeface="+mn-cs"/>
        </a:defRPr>
      </a:lvl8pPr>
      <a:lvl9pPr algn="l" defTabSz="685800" eaLnBrk="1" hangingPunct="1" indent="-288036" latinLnBrk="0" marL="3086100" rtl="0">
        <a:lnSpc>
          <a:spcPct val="94000"/>
        </a:lnSpc>
        <a:spcBef>
          <a:spcPts val="375"/>
        </a:spcBef>
        <a:spcAft>
          <a:spcPts val="150"/>
        </a:spcAft>
        <a:buFont charset="0" panose="020B0503020102020204" pitchFamily="34" typeface="Franklin Gothic Book"/>
        <a:buChar char="■"/>
        <a:defRPr baseline="0" kern="1200" sz="105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6858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/>
      <p:sp/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Presentation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Problem Statement</a:t>
            </a:r>
          </a:p>
          <a:p>
            <a:pPr lvl="0"/>
            <a:r>
              <a:rPr/>
              <a:t>Objectives</a:t>
            </a:r>
          </a:p>
          <a:p>
            <a:pPr lvl="0"/>
            <a:r>
              <a:rPr/>
              <a:t>Existing System &amp; Literature Review</a:t>
            </a:r>
          </a:p>
          <a:p>
            <a:pPr lvl="0"/>
            <a:r>
              <a:rPr/>
              <a:t>Proposed System &amp; Architecture</a:t>
            </a:r>
          </a:p>
          <a:p>
            <a:pPr lvl="0"/>
            <a:r>
              <a:rPr/>
              <a:t>Implementation</a:t>
            </a:r>
          </a:p>
          <a:p>
            <a:pPr lvl="0"/>
            <a:r>
              <a:rPr/>
              <a:t>System Design (DFDs, Class Diagram, ERD)</a:t>
            </a:r>
          </a:p>
          <a:p>
            <a:pPr lvl="0"/>
            <a:r>
              <a:rPr/>
              <a:t>Results &amp; Outputs</a:t>
            </a:r>
          </a:p>
          <a:p>
            <a:pPr lvl="0"/>
            <a:r>
              <a:rPr/>
              <a:t>Testing</a:t>
            </a:r>
          </a:p>
          <a:p>
            <a:pPr lvl="0"/>
            <a:r>
              <a:rPr/>
              <a:t>Conclusion &amp; Future Scope</a:t>
            </a:r>
          </a:p>
          <a:p>
            <a:pPr lvl="0"/>
            <a:r>
              <a:rPr/>
              <a:t>References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Organizations manage large volumes of unstructured HR documents: resumes, job descriptions, reports, and scanned correspondence.</a:t>
            </a:r>
          </a:p>
          <a:p>
            <a:pPr lvl="0"/>
            <a:r>
              <a:rPr/>
              <a:t>Manual document review is slow, labour-intensive, and inconsistent; HR teams spend most of their time reviewing resumes, around 23 hours to fill a single position.</a:t>
            </a:r>
          </a:p>
          <a:p>
            <a:pPr lvl="0"/>
            <a:r>
              <a:rPr/>
              <a:t>Keyword search matches literal words, not meaning, so a search for “machine learning engineer” misses an “ML researcher”.</a:t>
            </a:r>
          </a:p>
          <a:p>
            <a:pPr lvl="0"/>
            <a:r>
              <a:rPr/>
              <a:t>Existing tools rarely answer plain-language questions over a company’s own documents with any proof of where the answer came from.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Ingest and process heterogeneous documents (PDF, Word, scanned images) with OCR text extraction.</a:t>
            </a:r>
          </a:p>
          <a:p>
            <a:pPr lvl="0"/>
            <a:r>
              <a:rPr/>
              <a:t>Enable semantic search and retrieval over the document collection.</a:t>
            </a:r>
          </a:p>
          <a:p>
            <a:pPr lvl="0"/>
            <a:r>
              <a:rPr/>
              <a:t>Provide grounded question answering via Retrieval-Augmented Generation (RAG) with source citations.</a:t>
            </a:r>
          </a:p>
          <a:p>
            <a:pPr lvl="0"/>
            <a:r>
              <a:rPr/>
              <a:t>Automate resume screening and ranking against defined job criteria.</a:t>
            </a:r>
          </a:p>
          <a:p>
            <a:pPr lvl="0"/>
            <a:r>
              <a:rPr/>
              <a:t>Automate candidate intake from Gmail and reporting.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Existing System &amp; Literature Review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/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Natural-Language Q&amp;A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Provenance / Citations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 / On-Premise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Traditional ATS (Greenhouse, Workday)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(keyword)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Rule-based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Mostly cloud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recruitment (Eightfold AI)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(ML)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Weak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(proprietary)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Document 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(cloud)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RAG frameworks (LangChain)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HR-specific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(if built)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(self-host)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Hireflow (proposed)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Yes (weighted)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Yes (typed)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Proposed System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Frontend &amp; Backend:</a:t>
            </a:r>
            <a:r>
              <a:rPr/>
              <a:t> React 19 (TypeScript) single-page app with a layered FastAPI (Python) backend.</a:t>
            </a:r>
          </a:p>
          <a:p>
            <a:pPr lvl="0"/>
            <a:r>
              <a:rPr b="1"/>
              <a:t>Document Processing:</a:t>
            </a:r>
            <a:r>
              <a:rPr/>
              <a:t> PDF, Word, scanned documents, and Gmail attachments processed with PyMuPDF and Tesseract OCR.</a:t>
            </a:r>
          </a:p>
          <a:p>
            <a:pPr lvl="0"/>
            <a:r>
              <a:rPr b="1"/>
              <a:t>Semantic Search:</a:t>
            </a:r>
            <a:r>
              <a:rPr/>
              <a:t> extracted text is chunked, embedded with sentence-transformers, and stored in ChromaDB.</a:t>
            </a:r>
          </a:p>
          <a:p>
            <a:pPr lvl="0"/>
            <a:r>
              <a:rPr b="1"/>
              <a:t>RAG Question Answering:</a:t>
            </a:r>
            <a:r>
              <a:rPr/>
              <a:t> retrieved context is supplied to an LLM (Anthropic Claude) to generate accurate, source-cited answers.</a:t>
            </a:r>
          </a:p>
          <a:p>
            <a:pPr lvl="0"/>
            <a:r>
              <a:rPr b="1"/>
              <a:t>AI-Powered HR Screening:</a:t>
            </a:r>
            <a:r>
              <a:rPr/>
              <a:t> candidates are scored and ranked against job criteria with a transparent, weighted breakdown.</a:t>
            </a:r>
          </a:p>
          <a:p>
            <a:pPr lvl="0"/>
            <a:r>
              <a:rPr b="1"/>
              <a:t>Data Storage &amp; Security:</a:t>
            </a:r>
            <a:r>
              <a:rPr/>
              <a:t> PostgreSQL for application data, MinIO for files, Redis and Celery for async processing; JWT auth with per-user data isolation.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Architecture</a:t>
            </a:r>
          </a:p>
        </p:txBody>
      </p:sp>
      <p:pic>
        <p:nvPicPr>
          <p:cNvPr descr="src/images/architecture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90800" y="1714500"/>
            <a:ext cx="40894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Product vision and system design</a:t>
            </a:r>
          </a:p>
          <a:p>
            <a:pPr lvl="0"/>
            <a:r>
              <a:rPr/>
              <a:t>Frontend design and implementation (React 19, TypeScript, Tailwind, shadcn/ui)</a:t>
            </a:r>
          </a:p>
          <a:p>
            <a:pPr lvl="0"/>
            <a:r>
              <a:rPr/>
              <a:t>Backend design and implementation (layered FastAPI: API, Service, Domain, Adapter)</a:t>
            </a:r>
          </a:p>
          <a:p>
            <a:pPr lvl="0"/>
            <a:r>
              <a:rPr/>
              <a:t>Asynchronous document-processing pipeline (Celery worker)</a:t>
            </a:r>
          </a:p>
          <a:p>
            <a:pPr lvl="0"/>
            <a:r>
              <a:rPr/>
              <a:t>Hybrid search and RAG engine</a:t>
            </a:r>
          </a:p>
          <a:p>
            <a:pPr lvl="0"/>
            <a:r>
              <a:rPr/>
              <a:t>Software testing</a:t>
            </a:r>
          </a:p>
          <a:p>
            <a:pPr lvl="0"/>
            <a:r>
              <a:rPr/>
              <a:t>Containerization of the system (Docker)</a:t>
            </a:r>
          </a:p>
          <a:p>
            <a:pPr lvl="0"/>
            <a:r>
              <a:rPr/>
              <a:t>User-manual preparation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DFD Level 0 (Context)</a:t>
            </a:r>
          </a:p>
        </p:txBody>
      </p:sp>
      <p:pic>
        <p:nvPicPr>
          <p:cNvPr descr="src/images/dfd_level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1727200"/>
            <a:ext cx="7200900" cy="265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DFD Level 1</a:t>
            </a:r>
          </a:p>
        </p:txBody>
      </p:sp>
      <p:pic>
        <p:nvPicPr>
          <p:cNvPr descr="src/images/dfd_level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1714500"/>
            <a:ext cx="39116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 Diagram</a:t>
            </a:r>
          </a:p>
        </p:txBody>
      </p:sp>
      <p:pic>
        <p:nvPicPr>
          <p:cNvPr descr="src/images/cl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714500"/>
            <a:ext cx="47752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Database Design (ERD)</a:t>
            </a:r>
          </a:p>
        </p:txBody>
      </p:sp>
      <p:pic>
        <p:nvPicPr>
          <p:cNvPr descr="src/images/e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92300" y="1714500"/>
            <a:ext cx="54737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 Interface — Dashboard</a:t>
            </a:r>
          </a:p>
        </p:txBody>
      </p:sp>
      <p:pic>
        <p:nvPicPr>
          <p:cNvPr descr="src/images/screenshots/ho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714500"/>
            <a:ext cx="47625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 Interface — Semantic Search</a:t>
            </a:r>
          </a:p>
        </p:txBody>
      </p:sp>
      <p:pic>
        <p:nvPicPr>
          <p:cNvPr descr="src/images/screenshots/searc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714500"/>
            <a:ext cx="47625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 Interface — Ask (RAG Q&amp;A)</a:t>
            </a:r>
          </a:p>
        </p:txBody>
      </p:sp>
      <p:pic>
        <p:nvPicPr>
          <p:cNvPr descr="src/images/screenshots/as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714500"/>
            <a:ext cx="47625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 Interface — Candidate Screening</a:t>
            </a:r>
          </a:p>
        </p:txBody>
      </p:sp>
      <p:pic>
        <p:nvPicPr>
          <p:cNvPr descr="src/images/screenshots/candidat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714500"/>
            <a:ext cx="47625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&amp;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Retrieval latency:</a:t>
            </a:r>
            <a:r>
              <a:rPr/>
              <a:t> hybrid search 72 ms median, 167 ms at the 95th percentile (server-side).</a:t>
            </a:r>
          </a:p>
          <a:p>
            <a:pPr lvl="0"/>
            <a:r>
              <a:rPr b="1"/>
              <a:t>Ingestion throughput:</a:t>
            </a:r>
            <a:r>
              <a:rPr/>
              <a:t> about 44 s per text PDF to READY, about 4.1 s per scanned page; roughly 1.5 documents / minute at worker concurrency 1.</a:t>
            </a:r>
          </a:p>
          <a:p>
            <a:pPr lvl="0"/>
            <a:r>
              <a:rPr b="1"/>
              <a:t>Embedding &amp; LLM response:</a:t>
            </a:r>
            <a:r>
              <a:rPr/>
              <a:t> 0.57 ms per chunk on GPU; RAG time-to-first-token about 947 ms; full streamed answer about 1.5 s.</a:t>
            </a:r>
          </a:p>
          <a:p>
            <a:pPr lvl="0"/>
            <a:r>
              <a:rPr b="1"/>
              <a:t>Prototype:</a:t>
            </a:r>
            <a:r>
              <a:rPr/>
              <a:t> 31 working REST API endpoints; grounded, source-cited answers; out-of-scope questions refused instead of hallucinated.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Unit testing</a:t>
            </a:r>
            <a:r>
              <a:rPr/>
              <a:t> of domain logic and services with in-memory fakes (no database or Docker required).</a:t>
            </a:r>
          </a:p>
          <a:p>
            <a:pPr lvl="0"/>
            <a:r>
              <a:rPr b="1"/>
              <a:t>Integration &amp; API testing</a:t>
            </a:r>
            <a:r>
              <a:rPr/>
              <a:t> driving full request/response cycles through FastAPI against real backing services.</a:t>
            </a:r>
          </a:p>
          <a:p>
            <a:pPr lvl="0"/>
            <a:r>
              <a:rPr b="1"/>
              <a:t>Manual &amp; UAT-style testing</a:t>
            </a:r>
            <a:r>
              <a:rPr/>
              <a:t> through the browser and curl for interactive surfaces (streaming chat, drag-and-drop, keyboard navigation).</a:t>
            </a:r>
          </a:p>
          <a:p>
            <a:pPr lvl="0"/>
            <a:r>
              <a:rPr b="1"/>
              <a:t>Static analysis and linting</a:t>
            </a:r>
            <a:r>
              <a:rPr/>
              <a:t> (ruff, ESLint) run before every commit.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Testing — Key Test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400"/>
                <a:gridCol w="1803400"/>
                <a:gridCol w="1803400"/>
                <a:gridCol w="1803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Expected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TC-AUTH-006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Login with valid credentials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 200; access + refresh tokens issued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TC-DOCS-001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Upload PDF appears as ready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reaches </a:t>
                      </a:r>
                      <a:r>
                        <a:rPr>
                          <a:latin typeface="Courier"/>
                        </a:rPr>
                        <a:t>ready</a:t>
                      </a:r>
                      <a:r>
                        <a:rPr/>
                        <a:t> within 60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TC-DOCS-046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Auto-candidate from a resume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Candidate created on the on-ready hook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TC-SEARCH-005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 user sees only own documents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Owner scope enforced; empty result 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TC-RAG-001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Grounded answer with citations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Answer cites at least one 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TC-RAG-002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Out-of-scope question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 sentinel; no fabricated citations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Successfully developed an AI-powered HR platform that automates document processing, semantic retrieval, and resume screening.</a:t>
            </a:r>
          </a:p>
          <a:p>
            <a:pPr lvl="0"/>
            <a:r>
              <a:rPr/>
              <a:t>Implemented RAG-based document retrieval with source-cited answers, improving search accuracy and reducing manual effort.</a:t>
            </a:r>
          </a:p>
          <a:p>
            <a:pPr lvl="0"/>
            <a:r>
              <a:rPr/>
              <a:t>Automated the recruitment workflow through AI-based candidate ranking, Gmail resume synchronisation, and shortlist generation.</a:t>
            </a:r>
          </a:p>
          <a:p>
            <a:pPr lvl="0"/>
            <a:r>
              <a:rPr/>
              <a:t>Designed a scalable, modular architecture with interchangeable AI components, ensuring maintainability and future extensibility.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Enhance security with login rate-limiting, token revocation, and stronger file validation.</a:t>
            </a:r>
          </a:p>
          <a:p>
            <a:pPr lvl="0"/>
            <a:r>
              <a:rPr/>
              <a:t>Expand functionality with multilingual support, ATS integration, analytics dashboards, and real-time notifications.</a:t>
            </a:r>
          </a:p>
          <a:p>
            <a:pPr lvl="0"/>
            <a:r>
              <a:rPr/>
              <a:t>Improve performance through quantitative benchmarking and domain-specific AI models for retrieval and ranking.</a:t>
            </a:r>
          </a:p>
          <a:p>
            <a:pPr lvl="0"/>
            <a:r>
              <a:rPr/>
              <a:t>Increase accessibility with a native mobile application for recruiters.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Lewis, P., et al. (2020). Retrieval-Augmented Generation for Knowledge-Intensive NLP Tasks. </a:t>
            </a:r>
            <a:r>
              <a:rPr i="1"/>
              <a:t>NeurIPS 33</a:t>
            </a:r>
            <a:r>
              <a:rPr/>
              <a:t>, 9459–9474.</a:t>
            </a:r>
          </a:p>
          <a:p>
            <a:pPr lvl="0"/>
            <a:r>
              <a:rPr/>
              <a:t>Reimers, N., &amp; Gurevych, I. (2019). Sentence-BERT: Sentence Embeddings using Siamese BERT-Networks. </a:t>
            </a:r>
            <a:r>
              <a:rPr i="1"/>
              <a:t>EMNLP</a:t>
            </a:r>
            <a:r>
              <a:rPr/>
              <a:t>.</a:t>
            </a:r>
          </a:p>
          <a:p>
            <a:pPr lvl="0"/>
            <a:r>
              <a:rPr/>
              <a:t>Vaswani, A., et al. (2017). Attention Is All You Need. </a:t>
            </a:r>
            <a:r>
              <a:rPr i="1"/>
              <a:t>NeurIPS 30</a:t>
            </a:r>
            <a:r>
              <a:rPr/>
              <a:t>.</a:t>
            </a:r>
          </a:p>
          <a:p>
            <a:pPr lvl="0"/>
            <a:r>
              <a:rPr/>
              <a:t>Johnson, J., Douze, M., &amp; Jégou, H. (2019). Billion-scale Similarity Search with GPUs (FAISS). </a:t>
            </a:r>
            <a:r>
              <a:rPr i="1"/>
              <a:t>IEEE TBD</a:t>
            </a:r>
            <a:r>
              <a:rPr/>
              <a:t>.</a:t>
            </a:r>
          </a:p>
          <a:p>
            <a:pPr lvl="0"/>
            <a:r>
              <a:rPr/>
              <a:t>Smith, R. (2007). An Overview of the Tesseract OCR Engine. </a:t>
            </a:r>
            <a:r>
              <a:rPr i="1"/>
              <a:t>ICDAR</a:t>
            </a:r>
            <a:r>
              <a:rPr/>
              <a:t>.</a:t>
            </a:r>
          </a:p>
          <a:p>
            <a:pPr lvl="0"/>
            <a:r>
              <a:rPr/>
              <a:t>Anthropic. (n.d.). </a:t>
            </a:r>
            <a:r>
              <a:rPr i="1"/>
              <a:t>Claude Documentation.</a:t>
            </a:r>
            <a:r>
              <a:rPr/>
              <a:t> docs.anthropic.com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Any Queries?</a:t>
            </a:r>
          </a:p>
          <a:p>
            <a:pPr lvl="0" indent="0" marL="0">
              <a:buNone/>
            </a:pPr>
            <a:r>
              <a:rPr/>
              <a:t>AI Powered HR Screening and Document Retrieval System Using RAG</a:t>
            </a:r>
          </a:p>
        </p:txBody>
      </p:sp>
    </p:spTree>
  </p:cSld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{A4114FC8-8243-0C4E-A4C9-52C0D20216B8}tf10001072</Template>
  <TotalTime>44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Franklin Gothic Book</vt:lpstr>
      <vt:lpstr>Times New Roman</vt:lpstr>
      <vt:lpstr>Crop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HR Screening and Document Retrieval System Using RAG</dc:title>
  <dc:creator>Amna Ikram (2022-UET-ShCET-LHR-CS-02); Zain Ul Hassan (2022-UET-ShCET-LHR-CS-12); Ezza Ansar (2022-UET-ShCET-LHR-CS-13); Supervisor: Ms. Hirra Mustafa | Co-Supervisor: Dr. Mazhar Iqbal</dc:creator>
  <cp:keywords/>
  <dcterms:created xsi:type="dcterms:W3CDTF">2026-07-14T20:47:08Z</dcterms:created>
  <dcterms:modified xsi:type="dcterms:W3CDTF">2026-07-14T20:47:08Z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Final Year Project — Computer Science, Batch-13, Group #5</vt:lpwstr>
  </property>
  <property fmtid="{D5CDD505-2E9C-101B-9397-08002B2CF9AE}" pid="10" name="toc-title">
    <vt:lpwstr>Table of contents</vt:lpwstr>
  </property>
</Properties>
</file>